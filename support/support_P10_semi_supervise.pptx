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4EEF1"/>
    <a:srgbClr val="26707B"/>
    <a:srgbClr val="F1F6F9"/>
    <a:srgbClr val="6BA6AF"/>
    <a:srgbClr val="328490"/>
    <a:srgbClr val="408D9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72334" autoAdjust="0"/>
  </p:normalViewPr>
  <p:slideViewPr>
    <p:cSldViewPr snapToGrid="0" snapToObjects="1">
      <p:cViewPr varScale="1">
        <p:scale>
          <a:sx n="116" d="100"/>
          <a:sy n="116" d="100"/>
        </p:scale>
        <p:origin x="1964" y="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123439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svg"/><Relationship Id="rId4" Type="http://schemas.openxmlformats.org/officeDocument/2006/relationships/image" Target="../media/image10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svg"/><Relationship Id="rId5" Type="http://schemas.openxmlformats.org/officeDocument/2006/relationships/image" Target="../media/image13.svg"/><Relationship Id="rId4" Type="http://schemas.openxmlformats.org/officeDocument/2006/relationships/image" Target="../media/image12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svg"/><Relationship Id="rId5" Type="http://schemas.openxmlformats.org/officeDocument/2006/relationships/image" Target="../media/image4.svg"/><Relationship Id="rId4" Type="http://schemas.openxmlformats.org/officeDocument/2006/relationships/image" Target="../media/image10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svg"/><Relationship Id="rId4" Type="http://schemas.openxmlformats.org/officeDocument/2006/relationships/image" Target="../media/image23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svg"/><Relationship Id="rId5" Type="http://schemas.openxmlformats.org/officeDocument/2006/relationships/image" Target="../media/image26.svg"/><Relationship Id="rId4" Type="http://schemas.openxmlformats.org/officeDocument/2006/relationships/image" Target="../media/image2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284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2103120"/>
            <a:ext cx="5486400" cy="5486400"/>
          </a:xfrm>
          <a:prstGeom prst="ellipse">
            <a:avLst/>
          </a:prstGeom>
          <a:solidFill>
            <a:srgbClr val="6BA6AF">
              <a:alpha val="35000"/>
            </a:srgbClr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3" name="Shape 1"/>
          <p:cNvSpPr/>
          <p:nvPr/>
        </p:nvSpPr>
        <p:spPr>
          <a:xfrm>
            <a:off x="-1463040" y="4206240"/>
            <a:ext cx="4023360" cy="4023360"/>
          </a:xfrm>
          <a:prstGeom prst="ellipse">
            <a:avLst/>
          </a:prstGeom>
          <a:solidFill>
            <a:srgbClr val="6BA6AF">
              <a:alpha val="25000"/>
            </a:srgbClr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5" name="Text 2"/>
          <p:cNvSpPr/>
          <p:nvPr/>
        </p:nvSpPr>
        <p:spPr>
          <a:xfrm>
            <a:off x="1783080" y="8686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500" kern="0" spc="200" noProof="0" dirty="0" err="1">
                <a:solidFill>
                  <a:srgbClr val="D7EAED"/>
                </a:solidFill>
                <a:latin typeface="Josefin Sans" pitchFamily="34" charset="0"/>
                <a:ea typeface="Josefin Sans" pitchFamily="34" charset="-122"/>
                <a:cs typeface="Josefin Sans" pitchFamily="34" charset="-120"/>
              </a:rPr>
              <a:t>CurelyticsIA</a:t>
            </a:r>
            <a:r>
              <a:rPr lang="fr-FR" sz="1500" kern="0" spc="200" noProof="0" dirty="0">
                <a:solidFill>
                  <a:srgbClr val="D7EAED"/>
                </a:solidFill>
                <a:latin typeface="Josefin Sans" pitchFamily="34" charset="0"/>
                <a:ea typeface="Josefin Sans" pitchFamily="34" charset="-122"/>
                <a:cs typeface="Josefin Sans" pitchFamily="34" charset="-120"/>
              </a:rPr>
              <a:t>  ·  Projet </a:t>
            </a:r>
            <a:r>
              <a:rPr lang="fr-FR" sz="1500" kern="0" spc="200" noProof="0" dirty="0" err="1">
                <a:solidFill>
                  <a:srgbClr val="D7EAED"/>
                </a:solidFill>
                <a:latin typeface="Josefin Sans" pitchFamily="34" charset="0"/>
                <a:ea typeface="Josefin Sans" pitchFamily="34" charset="-122"/>
                <a:cs typeface="Josefin Sans" pitchFamily="34" charset="-120"/>
              </a:rPr>
              <a:t>BrainScanAI</a:t>
            </a:r>
            <a:endParaRPr lang="fr-FR" sz="1500" noProof="0" dirty="0"/>
          </a:p>
        </p:txBody>
      </p:sp>
      <p:sp>
        <p:nvSpPr>
          <p:cNvPr id="6" name="Text 3"/>
          <p:cNvSpPr/>
          <p:nvPr/>
        </p:nvSpPr>
        <p:spPr>
          <a:xfrm>
            <a:off x="822960" y="228600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fr-FR" sz="4000" b="1" noProof="0" dirty="0">
                <a:solidFill>
                  <a:srgbClr val="FFFFFF"/>
                </a:solidFill>
                <a:latin typeface="Josefin Sans" pitchFamily="34" charset="0"/>
                <a:ea typeface="Josefin Sans" pitchFamily="34" charset="-122"/>
                <a:cs typeface="Josefin Sans" pitchFamily="34" charset="-120"/>
              </a:rPr>
              <a:t>Détecter les tumeurs cérébrales</a:t>
            </a:r>
            <a:endParaRPr lang="fr-FR" sz="4000" noProof="0" dirty="0"/>
          </a:p>
          <a:p>
            <a:pPr marL="0" indent="0">
              <a:lnSpc>
                <a:spcPct val="105000"/>
              </a:lnSpc>
              <a:buNone/>
            </a:pPr>
            <a:r>
              <a:rPr lang="fr-FR" sz="4000" b="1" noProof="0" dirty="0">
                <a:solidFill>
                  <a:srgbClr val="FFFFFF"/>
                </a:solidFill>
                <a:latin typeface="Josefin Sans" pitchFamily="34" charset="0"/>
                <a:ea typeface="Josefin Sans" pitchFamily="34" charset="-122"/>
                <a:cs typeface="Josefin Sans" pitchFamily="34" charset="-120"/>
              </a:rPr>
              <a:t>sur IRM avec peu d'images annotées</a:t>
            </a:r>
            <a:endParaRPr lang="fr-FR" sz="4000" noProof="0" dirty="0"/>
          </a:p>
        </p:txBody>
      </p:sp>
      <p:sp>
        <p:nvSpPr>
          <p:cNvPr id="7" name="Text 4"/>
          <p:cNvSpPr/>
          <p:nvPr/>
        </p:nvSpPr>
        <p:spPr>
          <a:xfrm>
            <a:off x="841248" y="429768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800" noProof="0" dirty="0">
                <a:solidFill>
                  <a:srgbClr val="E2F0F2"/>
                </a:solidFill>
                <a:latin typeface="Josefin Sans" pitchFamily="34" charset="0"/>
                <a:ea typeface="Josefin Sans" pitchFamily="34" charset="-122"/>
                <a:cs typeface="Josefin Sans" pitchFamily="34" charset="-120"/>
              </a:rPr>
              <a:t>Une approche semi-supervisée : valoriser 1 406 images non annotées à partir de 100 seulement</a:t>
            </a:r>
            <a:endParaRPr lang="fr-FR" sz="1800" noProof="0" dirty="0"/>
          </a:p>
        </p:txBody>
      </p:sp>
      <p:sp>
        <p:nvSpPr>
          <p:cNvPr id="8" name="Text 5"/>
          <p:cNvSpPr/>
          <p:nvPr/>
        </p:nvSpPr>
        <p:spPr>
          <a:xfrm>
            <a:off x="841248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300" noProof="0" dirty="0">
                <a:solidFill>
                  <a:srgbClr val="CFE6E9"/>
                </a:solidFill>
                <a:latin typeface="Josefin Sans" pitchFamily="34" charset="0"/>
                <a:ea typeface="Josefin Sans" pitchFamily="34" charset="-122"/>
                <a:cs typeface="Josefin Sans" pitchFamily="34" charset="-120"/>
              </a:rPr>
              <a:t>Livrable de synthèse  ·  Juillet 2026</a:t>
            </a:r>
            <a:endParaRPr lang="fr-FR" sz="1300" noProof="0" dirty="0"/>
          </a:p>
        </p:txBody>
      </p:sp>
      <p:grpSp>
        <p:nvGrpSpPr>
          <p:cNvPr id="17" name="Groupe 16">
            <a:extLst>
              <a:ext uri="{FF2B5EF4-FFF2-40B4-BE49-F238E27FC236}">
                <a16:creationId xmlns:a16="http://schemas.microsoft.com/office/drawing/2014/main" id="{E23003AF-F152-4DDA-68C4-F09E74E48471}"/>
              </a:ext>
            </a:extLst>
          </p:cNvPr>
          <p:cNvGrpSpPr/>
          <p:nvPr/>
        </p:nvGrpSpPr>
        <p:grpSpPr>
          <a:xfrm>
            <a:off x="792304" y="733696"/>
            <a:ext cx="874299" cy="818607"/>
            <a:chOff x="2239433" y="1591492"/>
            <a:chExt cx="723414" cy="677333"/>
          </a:xfrm>
        </p:grpSpPr>
        <p:pic>
          <p:nvPicPr>
            <p:cNvPr id="12" name="Graphique 11" descr="Cerveau côté droit avec un remplissage uni">
              <a:extLst>
                <a:ext uri="{FF2B5EF4-FFF2-40B4-BE49-F238E27FC236}">
                  <a16:creationId xmlns:a16="http://schemas.microsoft.com/office/drawing/2014/main" id="{3C8124BA-7DE2-55AF-6225-C6D748949A8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l="10503" t="12371" r="50146" b="13556"/>
            <a:stretch>
              <a:fillRect/>
            </a:stretch>
          </p:blipFill>
          <p:spPr>
            <a:xfrm>
              <a:off x="2239433" y="1591492"/>
              <a:ext cx="359834" cy="677333"/>
            </a:xfrm>
            <a:prstGeom prst="rect">
              <a:avLst/>
            </a:prstGeom>
          </p:spPr>
        </p:pic>
        <p:pic>
          <p:nvPicPr>
            <p:cNvPr id="16" name="Graphique 15" descr="Cerveau côté droit avec un remplissage uni">
              <a:extLst>
                <a:ext uri="{FF2B5EF4-FFF2-40B4-BE49-F238E27FC236}">
                  <a16:creationId xmlns:a16="http://schemas.microsoft.com/office/drawing/2014/main" id="{C5BDBB91-3C1F-4536-BC41-7FED5B37810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l="10503" t="12371" r="50146" b="13556"/>
            <a:stretch>
              <a:fillRect/>
            </a:stretch>
          </p:blipFill>
          <p:spPr>
            <a:xfrm flipH="1">
              <a:off x="2603013" y="1591492"/>
              <a:ext cx="359834" cy="67733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1945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b="1" kern="0" spc="300" noProof="0" dirty="0">
                <a:solidFill>
                  <a:srgbClr val="6BA6AF"/>
                </a:solidFill>
                <a:latin typeface="Josefin Sans" pitchFamily="34" charset="0"/>
                <a:ea typeface="Josefin Sans" pitchFamily="34" charset="-122"/>
                <a:cs typeface="Josefin Sans" pitchFamily="34" charset="-120"/>
              </a:rPr>
              <a:t>CONTEXTE MÉTIER</a:t>
            </a:r>
            <a:endParaRPr lang="fr-FR" sz="1200" noProof="0" dirty="0"/>
          </a:p>
        </p:txBody>
      </p:sp>
      <p:sp>
        <p:nvSpPr>
          <p:cNvPr id="3" name="Text 1"/>
          <p:cNvSpPr/>
          <p:nvPr/>
        </p:nvSpPr>
        <p:spPr>
          <a:xfrm>
            <a:off x="640080" y="603905"/>
            <a:ext cx="10972800" cy="498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3000" b="1" noProof="0" dirty="0">
                <a:solidFill>
                  <a:srgbClr val="328490"/>
                </a:solidFill>
                <a:latin typeface="Josefin Sans" pitchFamily="34" charset="0"/>
                <a:ea typeface="Josefin Sans" pitchFamily="34" charset="-122"/>
                <a:cs typeface="Josefin Sans" pitchFamily="34" charset="-120"/>
              </a:rPr>
              <a:t>Beaucoup d'images, très peu d'annotations</a:t>
            </a:r>
            <a:endParaRPr lang="fr-FR" sz="3000" noProof="0" dirty="0"/>
          </a:p>
        </p:txBody>
      </p:sp>
      <p:grpSp>
        <p:nvGrpSpPr>
          <p:cNvPr id="29" name="Groupe 28">
            <a:extLst>
              <a:ext uri="{FF2B5EF4-FFF2-40B4-BE49-F238E27FC236}">
                <a16:creationId xmlns:a16="http://schemas.microsoft.com/office/drawing/2014/main" id="{E9C9C46B-5A3F-B96C-5CE5-D9CDD2A23DD3}"/>
              </a:ext>
            </a:extLst>
          </p:cNvPr>
          <p:cNvGrpSpPr/>
          <p:nvPr/>
        </p:nvGrpSpPr>
        <p:grpSpPr>
          <a:xfrm>
            <a:off x="4480560" y="1417320"/>
            <a:ext cx="3200400" cy="1965960"/>
            <a:chOff x="4160520" y="1417320"/>
            <a:chExt cx="3200400" cy="1965960"/>
          </a:xfrm>
        </p:grpSpPr>
        <p:sp>
          <p:nvSpPr>
            <p:cNvPr id="9" name="Shape 6"/>
            <p:cNvSpPr/>
            <p:nvPr/>
          </p:nvSpPr>
          <p:spPr>
            <a:xfrm>
              <a:off x="4160520" y="1417320"/>
              <a:ext cx="3200400" cy="1965960"/>
            </a:xfrm>
            <a:prstGeom prst="roundRect">
              <a:avLst>
                <a:gd name="adj" fmla="val 4390"/>
              </a:avLst>
            </a:prstGeom>
            <a:solidFill>
              <a:srgbClr val="FFFFFF"/>
            </a:solidFill>
            <a:ln/>
            <a:effectLst>
              <a:outerShdw blurRad="101600" dist="38100" dir="54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10" name="Shape 7"/>
            <p:cNvSpPr/>
            <p:nvPr/>
          </p:nvSpPr>
          <p:spPr>
            <a:xfrm>
              <a:off x="4480560" y="1737360"/>
              <a:ext cx="566928" cy="566928"/>
            </a:xfrm>
            <a:prstGeom prst="ellipse">
              <a:avLst/>
            </a:prstGeom>
            <a:solidFill>
              <a:srgbClr val="26707B"/>
            </a:solidFill>
            <a:ln/>
          </p:spPr>
          <p:txBody>
            <a:bodyPr/>
            <a:lstStyle/>
            <a:p>
              <a:endParaRPr lang="fr-FR" noProof="0" dirty="0"/>
            </a:p>
          </p:txBody>
        </p:sp>
        <p:pic>
          <p:nvPicPr>
            <p:cNvPr id="11" name="Image 1" descr="Base de données avec un remplissage uni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4582486" y="1843368"/>
              <a:ext cx="360000" cy="360000"/>
            </a:xfrm>
            <a:prstGeom prst="rect">
              <a:avLst/>
            </a:prstGeom>
          </p:spPr>
        </p:pic>
        <p:sp>
          <p:nvSpPr>
            <p:cNvPr id="12" name="Text 8"/>
            <p:cNvSpPr/>
            <p:nvPr/>
          </p:nvSpPr>
          <p:spPr>
            <a:xfrm>
              <a:off x="5327904" y="1655064"/>
              <a:ext cx="1752600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fr-FR" sz="4400" b="1" noProof="0" dirty="0">
                  <a:solidFill>
                    <a:srgbClr val="26707B"/>
                  </a:solidFill>
                  <a:latin typeface="Josefin Sans" pitchFamily="34" charset="0"/>
                  <a:ea typeface="Josefin Sans" pitchFamily="34" charset="-122"/>
                  <a:cs typeface="Josefin Sans" pitchFamily="34" charset="-120"/>
                </a:rPr>
                <a:t>1 406</a:t>
              </a:r>
              <a:endParaRPr lang="fr-FR" sz="4400" noProof="0" dirty="0">
                <a:solidFill>
                  <a:srgbClr val="26707B"/>
                </a:solidFill>
              </a:endParaRPr>
            </a:p>
          </p:txBody>
        </p:sp>
        <p:sp>
          <p:nvSpPr>
            <p:cNvPr id="13" name="Text 9"/>
            <p:cNvSpPr/>
            <p:nvPr/>
          </p:nvSpPr>
          <p:spPr>
            <a:xfrm>
              <a:off x="4343400" y="2500548"/>
              <a:ext cx="2834640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fr-FR" sz="1400" dirty="0">
                  <a:solidFill>
                    <a:srgbClr val="464646"/>
                  </a:solidFill>
                  <a:latin typeface="Josefin Sans" pitchFamily="34" charset="0"/>
                  <a:ea typeface="Josefin Sans" pitchFamily="34" charset="-122"/>
                  <a:cs typeface="Josefin Sans" pitchFamily="34" charset="-120"/>
                </a:rPr>
                <a:t>I</a:t>
              </a:r>
              <a:r>
                <a:rPr lang="fr-FR" sz="1400" noProof="0" dirty="0">
                  <a:solidFill>
                    <a:srgbClr val="464646"/>
                  </a:solidFill>
                  <a:latin typeface="Josefin Sans" pitchFamily="34" charset="0"/>
                  <a:ea typeface="Josefin Sans" pitchFamily="34" charset="-122"/>
                  <a:cs typeface="Josefin Sans" pitchFamily="34" charset="-120"/>
                </a:rPr>
                <a:t>mages sans annotation, soit 93 % du </a:t>
              </a:r>
              <a:r>
                <a:rPr lang="fr-FR" sz="1400" noProof="0" dirty="0" err="1">
                  <a:solidFill>
                    <a:srgbClr val="464646"/>
                  </a:solidFill>
                  <a:latin typeface="Josefin Sans" pitchFamily="34" charset="0"/>
                  <a:ea typeface="Josefin Sans" pitchFamily="34" charset="-122"/>
                  <a:cs typeface="Josefin Sans" pitchFamily="34" charset="-120"/>
                </a:rPr>
                <a:t>dataset</a:t>
              </a:r>
              <a:endParaRPr lang="fr-FR" sz="1400" noProof="0" dirty="0"/>
            </a:p>
          </p:txBody>
        </p:sp>
      </p:grpSp>
      <p:grpSp>
        <p:nvGrpSpPr>
          <p:cNvPr id="28" name="Groupe 27">
            <a:extLst>
              <a:ext uri="{FF2B5EF4-FFF2-40B4-BE49-F238E27FC236}">
                <a16:creationId xmlns:a16="http://schemas.microsoft.com/office/drawing/2014/main" id="{8DE745BD-3D25-FE5D-DA6C-D223B38703AD}"/>
              </a:ext>
            </a:extLst>
          </p:cNvPr>
          <p:cNvGrpSpPr/>
          <p:nvPr/>
        </p:nvGrpSpPr>
        <p:grpSpPr>
          <a:xfrm>
            <a:off x="8321040" y="1417320"/>
            <a:ext cx="3200400" cy="1965960"/>
            <a:chOff x="8321040" y="1417320"/>
            <a:chExt cx="3200400" cy="1965960"/>
          </a:xfrm>
        </p:grpSpPr>
        <p:sp>
          <p:nvSpPr>
            <p:cNvPr id="14" name="Shape 10"/>
            <p:cNvSpPr/>
            <p:nvPr/>
          </p:nvSpPr>
          <p:spPr>
            <a:xfrm>
              <a:off x="8321040" y="1417320"/>
              <a:ext cx="3200400" cy="1965960"/>
            </a:xfrm>
            <a:prstGeom prst="roundRect">
              <a:avLst>
                <a:gd name="adj" fmla="val 4390"/>
              </a:avLst>
            </a:prstGeom>
            <a:solidFill>
              <a:srgbClr val="FFFFFF"/>
            </a:solidFill>
            <a:ln/>
            <a:effectLst>
              <a:outerShdw blurRad="101600" dist="38100" dir="54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15" name="Shape 11"/>
            <p:cNvSpPr/>
            <p:nvPr/>
          </p:nvSpPr>
          <p:spPr>
            <a:xfrm>
              <a:off x="8641080" y="1737360"/>
              <a:ext cx="566928" cy="566928"/>
            </a:xfrm>
            <a:prstGeom prst="ellipse">
              <a:avLst/>
            </a:prstGeom>
            <a:solidFill>
              <a:srgbClr val="26707B"/>
            </a:solidFill>
            <a:ln/>
          </p:spPr>
          <p:txBody>
            <a:bodyPr/>
            <a:lstStyle/>
            <a:p>
              <a:endParaRPr lang="fr-FR" noProof="0" dirty="0"/>
            </a:p>
          </p:txBody>
        </p:sp>
        <p:pic>
          <p:nvPicPr>
            <p:cNvPr id="16" name="Image 2" descr="Argent avec un remplissage uni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8768677" y="1860724"/>
              <a:ext cx="294803" cy="294803"/>
            </a:xfrm>
            <a:prstGeom prst="rect">
              <a:avLst/>
            </a:prstGeom>
          </p:spPr>
        </p:pic>
        <p:sp>
          <p:nvSpPr>
            <p:cNvPr id="17" name="Text 12"/>
            <p:cNvSpPr/>
            <p:nvPr/>
          </p:nvSpPr>
          <p:spPr>
            <a:xfrm>
              <a:off x="9451876" y="1650450"/>
              <a:ext cx="2035169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fr-FR" sz="4400" b="1" noProof="0" dirty="0">
                  <a:solidFill>
                    <a:srgbClr val="26707B"/>
                  </a:solidFill>
                  <a:latin typeface="Josefin Sans" pitchFamily="34" charset="0"/>
                  <a:ea typeface="Josefin Sans" pitchFamily="34" charset="-122"/>
                  <a:cs typeface="Josefin Sans" pitchFamily="34" charset="-120"/>
                </a:rPr>
                <a:t>0,20 €</a:t>
              </a:r>
              <a:endParaRPr lang="fr-FR" sz="4400" noProof="0" dirty="0">
                <a:solidFill>
                  <a:srgbClr val="26707B"/>
                </a:solidFill>
              </a:endParaRPr>
            </a:p>
          </p:txBody>
        </p:sp>
        <p:sp>
          <p:nvSpPr>
            <p:cNvPr id="18" name="Text 13"/>
            <p:cNvSpPr/>
            <p:nvPr/>
          </p:nvSpPr>
          <p:spPr>
            <a:xfrm>
              <a:off x="8503920" y="2500842"/>
              <a:ext cx="283464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fr-FR" sz="1400" dirty="0">
                  <a:solidFill>
                    <a:srgbClr val="464646"/>
                  </a:solidFill>
                  <a:latin typeface="Josefin Sans" pitchFamily="34" charset="0"/>
                  <a:ea typeface="Josefin Sans" pitchFamily="34" charset="-122"/>
                  <a:cs typeface="Josefin Sans" pitchFamily="34" charset="-120"/>
                </a:rPr>
                <a:t>C</a:t>
              </a:r>
              <a:r>
                <a:rPr lang="fr-FR" sz="1400" noProof="0" dirty="0">
                  <a:solidFill>
                    <a:srgbClr val="464646"/>
                  </a:solidFill>
                  <a:latin typeface="Josefin Sans" pitchFamily="34" charset="0"/>
                  <a:ea typeface="Josefin Sans" pitchFamily="34" charset="-122"/>
                  <a:cs typeface="Josefin Sans" pitchFamily="34" charset="-120"/>
                </a:rPr>
                <a:t>oût de labellisation par image sur le pipeline actuel</a:t>
              </a:r>
              <a:endParaRPr lang="fr-FR" sz="1400" noProof="0" dirty="0"/>
            </a:p>
          </p:txBody>
        </p:sp>
      </p:grpSp>
      <p:grpSp>
        <p:nvGrpSpPr>
          <p:cNvPr id="31" name="Groupe 30">
            <a:extLst>
              <a:ext uri="{FF2B5EF4-FFF2-40B4-BE49-F238E27FC236}">
                <a16:creationId xmlns:a16="http://schemas.microsoft.com/office/drawing/2014/main" id="{63168FC1-76C9-2155-E2E4-34E8C1CD1AAF}"/>
              </a:ext>
            </a:extLst>
          </p:cNvPr>
          <p:cNvGrpSpPr/>
          <p:nvPr/>
        </p:nvGrpSpPr>
        <p:grpSpPr>
          <a:xfrm>
            <a:off x="640080" y="3636010"/>
            <a:ext cx="10881360" cy="2606040"/>
            <a:chOff x="640080" y="3636010"/>
            <a:chExt cx="10881360" cy="2606040"/>
          </a:xfrm>
        </p:grpSpPr>
        <p:sp>
          <p:nvSpPr>
            <p:cNvPr id="19" name="Shape 14"/>
            <p:cNvSpPr/>
            <p:nvPr/>
          </p:nvSpPr>
          <p:spPr>
            <a:xfrm>
              <a:off x="640080" y="3636010"/>
              <a:ext cx="10881360" cy="2606040"/>
            </a:xfrm>
            <a:prstGeom prst="roundRect">
              <a:avLst>
                <a:gd name="adj" fmla="val 3158"/>
              </a:avLst>
            </a:prstGeom>
            <a:solidFill>
              <a:srgbClr val="E4EEF1"/>
            </a:solidFill>
            <a:ln/>
            <a:effectLst>
              <a:outerShdw blurRad="101600" dist="38100" dir="54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20" name="Text 15"/>
            <p:cNvSpPr/>
            <p:nvPr/>
          </p:nvSpPr>
          <p:spPr>
            <a:xfrm>
              <a:off x="914400" y="3818890"/>
              <a:ext cx="1005840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fr-FR" sz="1700" b="1" noProof="0" dirty="0">
                  <a:solidFill>
                    <a:srgbClr val="328490"/>
                  </a:solidFill>
                  <a:latin typeface="Josefin Sans" pitchFamily="34" charset="0"/>
                  <a:ea typeface="Josefin Sans" pitchFamily="34" charset="-122"/>
                  <a:cs typeface="Josefin Sans" pitchFamily="34" charset="-120"/>
                </a:rPr>
                <a:t>Le problème posé</a:t>
              </a:r>
              <a:endParaRPr lang="fr-FR" sz="1700" noProof="0" dirty="0"/>
            </a:p>
          </p:txBody>
        </p:sp>
        <p:sp>
          <p:nvSpPr>
            <p:cNvPr id="21" name="Text 16"/>
            <p:cNvSpPr/>
            <p:nvPr/>
          </p:nvSpPr>
          <p:spPr>
            <a:xfrm>
              <a:off x="914400" y="4230370"/>
              <a:ext cx="10332720" cy="18288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342900" indent="-342900">
                <a:lnSpc>
                  <a:spcPct val="102000"/>
                </a:lnSpc>
                <a:spcAft>
                  <a:spcPts val="800"/>
                </a:spcAft>
                <a:buSzPct val="100000"/>
                <a:buChar char="•"/>
              </a:pPr>
              <a:r>
                <a:rPr lang="fr-FR" sz="1550" noProof="0" dirty="0">
                  <a:solidFill>
                    <a:srgbClr val="464646"/>
                  </a:solidFill>
                  <a:latin typeface="Josefin Sans" pitchFamily="34" charset="0"/>
                  <a:ea typeface="Josefin Sans" pitchFamily="34" charset="-122"/>
                  <a:cs typeface="Josefin Sans" pitchFamily="34" charset="-120"/>
                </a:rPr>
                <a:t>Annoter une IRM demande un radiologue : c'est lent et coûteux. Se limiter à 100 images bride tout modèle supervisé.</a:t>
              </a:r>
              <a:endParaRPr lang="fr-FR" sz="1550" noProof="0" dirty="0"/>
            </a:p>
            <a:p>
              <a:pPr marL="342900" indent="-342900">
                <a:lnSpc>
                  <a:spcPct val="102000"/>
                </a:lnSpc>
                <a:spcAft>
                  <a:spcPts val="800"/>
                </a:spcAft>
                <a:buSzPct val="100000"/>
                <a:buChar char="•"/>
              </a:pPr>
              <a:r>
                <a:rPr lang="fr-FR" sz="1550" noProof="0" dirty="0">
                  <a:solidFill>
                    <a:srgbClr val="464646"/>
                  </a:solidFill>
                  <a:latin typeface="Josefin Sans" pitchFamily="34" charset="0"/>
                  <a:ea typeface="Josefin Sans" pitchFamily="34" charset="-122"/>
                  <a:cs typeface="Josefin Sans" pitchFamily="34" charset="-120"/>
                </a:rPr>
                <a:t>En dépistage, l'erreur qui compte est le faux négatif : rater un cancer est bien plus grave que déclencher un contrôle inutile.</a:t>
              </a:r>
              <a:endParaRPr lang="fr-FR" sz="1550" noProof="0" dirty="0"/>
            </a:p>
            <a:p>
              <a:pPr marL="342900" indent="-342900">
                <a:lnSpc>
                  <a:spcPct val="102000"/>
                </a:lnSpc>
                <a:buSzPct val="100000"/>
                <a:buChar char="•"/>
              </a:pPr>
              <a:r>
                <a:rPr lang="fr-FR" sz="1550" noProof="0" dirty="0">
                  <a:solidFill>
                    <a:srgbClr val="464646"/>
                  </a:solidFill>
                  <a:latin typeface="Josefin Sans" pitchFamily="34" charset="0"/>
                  <a:ea typeface="Josefin Sans" pitchFamily="34" charset="-122"/>
                  <a:cs typeface="Josefin Sans" pitchFamily="34" charset="-120"/>
                </a:rPr>
                <a:t>L'idée directrice : faire produire des labels « faibles » par la machine sur les 1 406 images, puis affiner sur les 100 labels forts.</a:t>
              </a:r>
              <a:endParaRPr lang="fr-FR" sz="1550" noProof="0" dirty="0"/>
            </a:p>
          </p:txBody>
        </p:sp>
      </p:grpSp>
      <p:grpSp>
        <p:nvGrpSpPr>
          <p:cNvPr id="30" name="Groupe 29">
            <a:extLst>
              <a:ext uri="{FF2B5EF4-FFF2-40B4-BE49-F238E27FC236}">
                <a16:creationId xmlns:a16="http://schemas.microsoft.com/office/drawing/2014/main" id="{E9A28272-1889-D8C6-8F11-25728A094199}"/>
              </a:ext>
            </a:extLst>
          </p:cNvPr>
          <p:cNvGrpSpPr/>
          <p:nvPr/>
        </p:nvGrpSpPr>
        <p:grpSpPr>
          <a:xfrm>
            <a:off x="640080" y="1417320"/>
            <a:ext cx="3200400" cy="1965960"/>
            <a:chOff x="640080" y="1417320"/>
            <a:chExt cx="3200400" cy="1965960"/>
          </a:xfrm>
        </p:grpSpPr>
        <p:sp>
          <p:nvSpPr>
            <p:cNvPr id="4" name="Shape 2"/>
            <p:cNvSpPr/>
            <p:nvPr/>
          </p:nvSpPr>
          <p:spPr>
            <a:xfrm>
              <a:off x="640080" y="1417320"/>
              <a:ext cx="3200400" cy="1965960"/>
            </a:xfrm>
            <a:prstGeom prst="roundRect">
              <a:avLst>
                <a:gd name="adj" fmla="val 4390"/>
              </a:avLst>
            </a:prstGeom>
            <a:solidFill>
              <a:srgbClr val="FFFFFF"/>
            </a:solidFill>
            <a:ln/>
            <a:effectLst>
              <a:outerShdw blurRad="101600" dist="38100" dir="54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5" name="Shape 3"/>
            <p:cNvSpPr/>
            <p:nvPr/>
          </p:nvSpPr>
          <p:spPr>
            <a:xfrm>
              <a:off x="960120" y="1737360"/>
              <a:ext cx="566928" cy="566928"/>
            </a:xfrm>
            <a:prstGeom prst="ellipse">
              <a:avLst/>
            </a:prstGeom>
            <a:solidFill>
              <a:srgbClr val="26707B"/>
            </a:solidFill>
            <a:ln/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7" name="Text 4"/>
            <p:cNvSpPr/>
            <p:nvPr/>
          </p:nvSpPr>
          <p:spPr>
            <a:xfrm>
              <a:off x="1766751" y="1655064"/>
              <a:ext cx="1702526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fr-FR" sz="4400" b="1" noProof="0" dirty="0">
                  <a:solidFill>
                    <a:srgbClr val="26707B"/>
                  </a:solidFill>
                  <a:latin typeface="Josefin Sans" pitchFamily="34" charset="0"/>
                  <a:ea typeface="Josefin Sans" pitchFamily="34" charset="-122"/>
                  <a:cs typeface="Josefin Sans" pitchFamily="34" charset="-120"/>
                </a:rPr>
                <a:t>100</a:t>
              </a:r>
              <a:endParaRPr lang="fr-FR" sz="4400" noProof="0" dirty="0">
                <a:solidFill>
                  <a:srgbClr val="26707B"/>
                </a:solidFill>
              </a:endParaRPr>
            </a:p>
          </p:txBody>
        </p:sp>
        <p:sp>
          <p:nvSpPr>
            <p:cNvPr id="8" name="Text 5"/>
            <p:cNvSpPr/>
            <p:nvPr/>
          </p:nvSpPr>
          <p:spPr>
            <a:xfrm>
              <a:off x="914400" y="2500548"/>
              <a:ext cx="2834640" cy="6309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fr-FR" sz="1400" dirty="0">
                  <a:solidFill>
                    <a:srgbClr val="464646"/>
                  </a:solidFill>
                  <a:latin typeface="Josefin Sans" pitchFamily="34" charset="0"/>
                  <a:ea typeface="Josefin Sans" pitchFamily="34" charset="-122"/>
                  <a:cs typeface="Josefin Sans" pitchFamily="34" charset="-120"/>
                </a:rPr>
                <a:t>I</a:t>
              </a:r>
              <a:r>
                <a:rPr lang="fr-FR" sz="1400" noProof="0" dirty="0">
                  <a:solidFill>
                    <a:srgbClr val="464646"/>
                  </a:solidFill>
                  <a:latin typeface="Josefin Sans" pitchFamily="34" charset="0"/>
                  <a:ea typeface="Josefin Sans" pitchFamily="34" charset="-122"/>
                  <a:cs typeface="Josefin Sans" pitchFamily="34" charset="-120"/>
                </a:rPr>
                <a:t>mages annotées par les radiologues (50 cancer / 50 normal)</a:t>
              </a:r>
              <a:endParaRPr lang="fr-FR" sz="1400" noProof="0" dirty="0"/>
            </a:p>
          </p:txBody>
        </p:sp>
        <p:pic>
          <p:nvPicPr>
            <p:cNvPr id="25" name="Graphique 24" descr="Marquage avec un remplissage uni">
              <a:extLst>
                <a:ext uri="{FF2B5EF4-FFF2-40B4-BE49-F238E27FC236}">
                  <a16:creationId xmlns:a16="http://schemas.microsoft.com/office/drawing/2014/main" id="{001706EF-A846-34FF-2DAC-6C892DA6CFF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040202" y="1817858"/>
              <a:ext cx="405194" cy="405194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1945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b="1" kern="0" spc="300" noProof="0" dirty="0">
                <a:solidFill>
                  <a:srgbClr val="6BA6AF"/>
                </a:solidFill>
                <a:latin typeface="Josefin Sans" pitchFamily="34" charset="0"/>
                <a:ea typeface="Josefin Sans" pitchFamily="34" charset="-122"/>
                <a:cs typeface="Josefin Sans" pitchFamily="34" charset="-120"/>
              </a:rPr>
              <a:t>LES DONNÉES</a:t>
            </a:r>
            <a:endParaRPr lang="fr-FR" sz="1200" noProof="0" dirty="0"/>
          </a:p>
        </p:txBody>
      </p:sp>
      <p:sp>
        <p:nvSpPr>
          <p:cNvPr id="3" name="Text 1"/>
          <p:cNvSpPr/>
          <p:nvPr/>
        </p:nvSpPr>
        <p:spPr>
          <a:xfrm>
            <a:off x="640080" y="421792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3000" b="1" noProof="0" dirty="0">
                <a:solidFill>
                  <a:srgbClr val="328490"/>
                </a:solidFill>
                <a:latin typeface="Josefin Sans" pitchFamily="34" charset="0"/>
                <a:ea typeface="Josefin Sans" pitchFamily="34" charset="-122"/>
                <a:cs typeface="Josefin Sans" pitchFamily="34" charset="-120"/>
              </a:rPr>
              <a:t>1 506 IRM homogènes, prêtes pour un modèle pré-entraîné</a:t>
            </a:r>
            <a:endParaRPr lang="fr-FR" sz="3000" noProof="0" dirty="0"/>
          </a:p>
        </p:txBody>
      </p:sp>
      <p:grpSp>
        <p:nvGrpSpPr>
          <p:cNvPr id="29" name="Groupe 28">
            <a:extLst>
              <a:ext uri="{FF2B5EF4-FFF2-40B4-BE49-F238E27FC236}">
                <a16:creationId xmlns:a16="http://schemas.microsoft.com/office/drawing/2014/main" id="{0402D56D-9AEF-863B-57C0-8DECECE4DA77}"/>
              </a:ext>
            </a:extLst>
          </p:cNvPr>
          <p:cNvGrpSpPr/>
          <p:nvPr/>
        </p:nvGrpSpPr>
        <p:grpSpPr>
          <a:xfrm>
            <a:off x="411480" y="1371600"/>
            <a:ext cx="11338560" cy="2593104"/>
            <a:chOff x="411480" y="1371600"/>
            <a:chExt cx="11338560" cy="2593104"/>
          </a:xfrm>
        </p:grpSpPr>
        <p:sp>
          <p:nvSpPr>
            <p:cNvPr id="4" name="Shape 2"/>
            <p:cNvSpPr/>
            <p:nvPr/>
          </p:nvSpPr>
          <p:spPr>
            <a:xfrm>
              <a:off x="411480" y="1371600"/>
              <a:ext cx="11338560" cy="2251254"/>
            </a:xfrm>
            <a:prstGeom prst="roundRect">
              <a:avLst>
                <a:gd name="adj" fmla="val 3656"/>
              </a:avLst>
            </a:prstGeom>
            <a:solidFill>
              <a:srgbClr val="FFFFFF"/>
            </a:solidFill>
            <a:ln/>
            <a:effectLst>
              <a:outerShdw blurRad="101600" dist="38100" dir="54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fr-FR" noProof="0" dirty="0"/>
            </a:p>
          </p:txBody>
        </p:sp>
        <p:pic>
          <p:nvPicPr>
            <p:cNvPr id="5" name="Image 0" descr="Six IRM cérébrales : deux exemples cancer, deux normal, deux sans label. Coupes sagittales et axiales en niveaux de gris.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94360" y="1554480"/>
              <a:ext cx="10972800" cy="1885494"/>
            </a:xfrm>
            <a:prstGeom prst="rect">
              <a:avLst/>
            </a:prstGeom>
          </p:spPr>
        </p:pic>
        <p:sp>
          <p:nvSpPr>
            <p:cNvPr id="6" name="Text 3"/>
            <p:cNvSpPr/>
            <p:nvPr/>
          </p:nvSpPr>
          <p:spPr>
            <a:xfrm>
              <a:off x="640080" y="3622854"/>
              <a:ext cx="10972800" cy="3418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fr-FR" sz="1200" i="1" noProof="0" dirty="0">
                  <a:solidFill>
                    <a:srgbClr val="556269"/>
                  </a:solidFill>
                  <a:latin typeface="Josefin Sans" pitchFamily="34" charset="0"/>
                  <a:ea typeface="Josefin Sans" pitchFamily="34" charset="-122"/>
                  <a:cs typeface="Josefin Sans" pitchFamily="34" charset="-120"/>
                </a:rPr>
                <a:t>Échantillon équilibré : cancer, normal, et images à labelliser</a:t>
              </a:r>
              <a:endParaRPr lang="fr-FR" sz="1200" noProof="0" dirty="0"/>
            </a:p>
          </p:txBody>
        </p:sp>
      </p:grpSp>
      <p:grpSp>
        <p:nvGrpSpPr>
          <p:cNvPr id="25" name="Groupe 24">
            <a:extLst>
              <a:ext uri="{FF2B5EF4-FFF2-40B4-BE49-F238E27FC236}">
                <a16:creationId xmlns:a16="http://schemas.microsoft.com/office/drawing/2014/main" id="{E4197AD0-9AD3-A268-B588-197E70647996}"/>
              </a:ext>
            </a:extLst>
          </p:cNvPr>
          <p:cNvGrpSpPr/>
          <p:nvPr/>
        </p:nvGrpSpPr>
        <p:grpSpPr>
          <a:xfrm>
            <a:off x="411480" y="3977640"/>
            <a:ext cx="3502152" cy="2194560"/>
            <a:chOff x="640080" y="3977640"/>
            <a:chExt cx="3502152" cy="2194560"/>
          </a:xfrm>
        </p:grpSpPr>
        <p:sp>
          <p:nvSpPr>
            <p:cNvPr id="7" name="Shape 4"/>
            <p:cNvSpPr/>
            <p:nvPr/>
          </p:nvSpPr>
          <p:spPr>
            <a:xfrm>
              <a:off x="640080" y="3977640"/>
              <a:ext cx="3502152" cy="2194560"/>
            </a:xfrm>
            <a:prstGeom prst="roundRect">
              <a:avLst>
                <a:gd name="adj" fmla="val 3750"/>
              </a:avLst>
            </a:prstGeom>
            <a:solidFill>
              <a:srgbClr val="FFFFFF"/>
            </a:solidFill>
            <a:ln/>
            <a:effectLst>
              <a:outerShdw blurRad="101600" dist="38100" dir="54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8" name="Shape 5"/>
            <p:cNvSpPr/>
            <p:nvPr/>
          </p:nvSpPr>
          <p:spPr>
            <a:xfrm>
              <a:off x="914400" y="4251960"/>
              <a:ext cx="548640" cy="548640"/>
            </a:xfrm>
            <a:prstGeom prst="ellipse">
              <a:avLst/>
            </a:prstGeom>
            <a:solidFill>
              <a:srgbClr val="6BA6AF"/>
            </a:solidFill>
            <a:ln/>
          </p:spPr>
          <p:txBody>
            <a:bodyPr/>
            <a:lstStyle/>
            <a:p>
              <a:endParaRPr lang="fr-FR" noProof="0" dirty="0"/>
            </a:p>
          </p:txBody>
        </p:sp>
        <p:pic>
          <p:nvPicPr>
            <p:cNvPr id="9" name="Image 1" descr="Images avec un remplissage uni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1046074" y="4383634"/>
              <a:ext cx="285293" cy="285293"/>
            </a:xfrm>
            <a:prstGeom prst="rect">
              <a:avLst/>
            </a:prstGeom>
          </p:spPr>
        </p:pic>
        <p:sp>
          <p:nvSpPr>
            <p:cNvPr id="10" name="Text 6"/>
            <p:cNvSpPr/>
            <p:nvPr/>
          </p:nvSpPr>
          <p:spPr>
            <a:xfrm>
              <a:off x="1645920" y="4298519"/>
              <a:ext cx="2122415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fr-FR" sz="1900" b="1" noProof="0" dirty="0">
                  <a:solidFill>
                    <a:srgbClr val="328490"/>
                  </a:solidFill>
                  <a:latin typeface="Josefin Sans" pitchFamily="34" charset="0"/>
                  <a:ea typeface="Josefin Sans" pitchFamily="34" charset="-122"/>
                  <a:cs typeface="Josefin Sans" pitchFamily="34" charset="-120"/>
                </a:rPr>
                <a:t>512×512, RGB</a:t>
              </a:r>
              <a:endParaRPr lang="fr-FR" sz="1900" noProof="0" dirty="0"/>
            </a:p>
          </p:txBody>
        </p:sp>
        <p:sp>
          <p:nvSpPr>
            <p:cNvPr id="11" name="Text 7"/>
            <p:cNvSpPr/>
            <p:nvPr/>
          </p:nvSpPr>
          <p:spPr>
            <a:xfrm>
              <a:off x="914400" y="5142450"/>
              <a:ext cx="3017520" cy="93830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ct val="100000"/>
                </a:lnSpc>
                <a:buNone/>
              </a:pPr>
              <a:r>
                <a:rPr lang="fr-FR" sz="1350" noProof="0" dirty="0">
                  <a:solidFill>
                    <a:srgbClr val="464646"/>
                  </a:solidFill>
                  <a:latin typeface="Josefin Sans" pitchFamily="34" charset="0"/>
                  <a:ea typeface="Josefin Sans" pitchFamily="34" charset="-122"/>
                  <a:cs typeface="Josefin Sans" pitchFamily="34" charset="-120"/>
                </a:rPr>
                <a:t>Résolution et canaux 100 % homogènes sur les 1 506 images</a:t>
              </a:r>
              <a:endParaRPr lang="fr-FR" sz="1350" noProof="0" dirty="0"/>
            </a:p>
          </p:txBody>
        </p:sp>
      </p:grpSp>
      <p:grpSp>
        <p:nvGrpSpPr>
          <p:cNvPr id="27" name="Groupe 26">
            <a:extLst>
              <a:ext uri="{FF2B5EF4-FFF2-40B4-BE49-F238E27FC236}">
                <a16:creationId xmlns:a16="http://schemas.microsoft.com/office/drawing/2014/main" id="{3B51424D-AAC1-ECF4-4A24-0B132E965DB4}"/>
              </a:ext>
            </a:extLst>
          </p:cNvPr>
          <p:cNvGrpSpPr/>
          <p:nvPr/>
        </p:nvGrpSpPr>
        <p:grpSpPr>
          <a:xfrm>
            <a:off x="4325112" y="3977640"/>
            <a:ext cx="3502152" cy="2194560"/>
            <a:chOff x="4325112" y="3977640"/>
            <a:chExt cx="3502152" cy="2194560"/>
          </a:xfrm>
        </p:grpSpPr>
        <p:sp>
          <p:nvSpPr>
            <p:cNvPr id="12" name="Shape 8"/>
            <p:cNvSpPr/>
            <p:nvPr/>
          </p:nvSpPr>
          <p:spPr>
            <a:xfrm>
              <a:off x="4325112" y="3977640"/>
              <a:ext cx="3502152" cy="2194560"/>
            </a:xfrm>
            <a:prstGeom prst="roundRect">
              <a:avLst>
                <a:gd name="adj" fmla="val 3750"/>
              </a:avLst>
            </a:prstGeom>
            <a:solidFill>
              <a:srgbClr val="FFFFFF"/>
            </a:solidFill>
            <a:ln/>
            <a:effectLst>
              <a:outerShdw blurRad="101600" dist="38100" dir="54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13" name="Shape 9"/>
            <p:cNvSpPr/>
            <p:nvPr/>
          </p:nvSpPr>
          <p:spPr>
            <a:xfrm>
              <a:off x="4599432" y="4251960"/>
              <a:ext cx="548640" cy="548640"/>
            </a:xfrm>
            <a:prstGeom prst="ellipse">
              <a:avLst/>
            </a:prstGeom>
            <a:solidFill>
              <a:srgbClr val="6BA6AF"/>
            </a:solidFill>
            <a:ln/>
          </p:spPr>
          <p:txBody>
            <a:bodyPr/>
            <a:lstStyle/>
            <a:p>
              <a:endParaRPr lang="fr-FR" noProof="0" dirty="0"/>
            </a:p>
          </p:txBody>
        </p:sp>
        <p:pic>
          <p:nvPicPr>
            <p:cNvPr id="14" name="Image 2" descr="Badge Tick1 avec un remplissage uni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4731106" y="4383634"/>
              <a:ext cx="285293" cy="285293"/>
            </a:xfrm>
            <a:prstGeom prst="rect">
              <a:avLst/>
            </a:prstGeom>
          </p:spPr>
        </p:pic>
        <p:sp>
          <p:nvSpPr>
            <p:cNvPr id="15" name="Text 10"/>
            <p:cNvSpPr/>
            <p:nvPr/>
          </p:nvSpPr>
          <p:spPr>
            <a:xfrm>
              <a:off x="5330952" y="4294324"/>
              <a:ext cx="2111761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fr-FR" sz="1900" b="1" noProof="0" dirty="0">
                  <a:solidFill>
                    <a:srgbClr val="328490"/>
                  </a:solidFill>
                  <a:latin typeface="Josefin Sans" pitchFamily="34" charset="0"/>
                  <a:ea typeface="Josefin Sans" pitchFamily="34" charset="-122"/>
                  <a:cs typeface="Josefin Sans" pitchFamily="34" charset="-120"/>
                </a:rPr>
                <a:t>0 anomalie</a:t>
              </a:r>
              <a:endParaRPr lang="fr-FR" sz="1900" noProof="0" dirty="0"/>
            </a:p>
          </p:txBody>
        </p:sp>
        <p:sp>
          <p:nvSpPr>
            <p:cNvPr id="16" name="Text 11"/>
            <p:cNvSpPr/>
            <p:nvPr/>
          </p:nvSpPr>
          <p:spPr>
            <a:xfrm>
              <a:off x="4599432" y="5142450"/>
              <a:ext cx="3017520" cy="9383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ct val="100000"/>
                </a:lnSpc>
                <a:buNone/>
              </a:pPr>
              <a:r>
                <a:rPr lang="fr-FR" sz="1350" noProof="0" dirty="0">
                  <a:solidFill>
                    <a:srgbClr val="464646"/>
                  </a:solidFill>
                  <a:latin typeface="Josefin Sans" pitchFamily="34" charset="0"/>
                  <a:ea typeface="Josefin Sans" pitchFamily="34" charset="-122"/>
                  <a:cs typeface="Josefin Sans" pitchFamily="34" charset="-120"/>
                </a:rPr>
                <a:t>Aucun fichier corrompu, aucun format hors norme : nettoyage inutile</a:t>
              </a:r>
              <a:endParaRPr lang="fr-FR" sz="1350" noProof="0" dirty="0"/>
            </a:p>
          </p:txBody>
        </p:sp>
      </p:grpSp>
      <p:grpSp>
        <p:nvGrpSpPr>
          <p:cNvPr id="26" name="Groupe 25">
            <a:extLst>
              <a:ext uri="{FF2B5EF4-FFF2-40B4-BE49-F238E27FC236}">
                <a16:creationId xmlns:a16="http://schemas.microsoft.com/office/drawing/2014/main" id="{4FBC0A7C-FE7A-3729-15D6-5639EBED6909}"/>
              </a:ext>
            </a:extLst>
          </p:cNvPr>
          <p:cNvGrpSpPr/>
          <p:nvPr/>
        </p:nvGrpSpPr>
        <p:grpSpPr>
          <a:xfrm>
            <a:off x="8247888" y="3977640"/>
            <a:ext cx="3502152" cy="2194560"/>
            <a:chOff x="8010144" y="3977640"/>
            <a:chExt cx="3502152" cy="2194560"/>
          </a:xfrm>
        </p:grpSpPr>
        <p:sp>
          <p:nvSpPr>
            <p:cNvPr id="17" name="Shape 12"/>
            <p:cNvSpPr/>
            <p:nvPr/>
          </p:nvSpPr>
          <p:spPr>
            <a:xfrm>
              <a:off x="8010144" y="3977640"/>
              <a:ext cx="3502152" cy="2194560"/>
            </a:xfrm>
            <a:prstGeom prst="roundRect">
              <a:avLst>
                <a:gd name="adj" fmla="val 3750"/>
              </a:avLst>
            </a:prstGeom>
            <a:solidFill>
              <a:srgbClr val="FFFFFF"/>
            </a:solidFill>
            <a:ln/>
            <a:effectLst>
              <a:outerShdw blurRad="101600" dist="38100" dir="54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18" name="Shape 13"/>
            <p:cNvSpPr/>
            <p:nvPr/>
          </p:nvSpPr>
          <p:spPr>
            <a:xfrm>
              <a:off x="8284464" y="4251960"/>
              <a:ext cx="548640" cy="548640"/>
            </a:xfrm>
            <a:prstGeom prst="ellipse">
              <a:avLst/>
            </a:prstGeom>
            <a:solidFill>
              <a:srgbClr val="6BA6AF"/>
            </a:solidFill>
            <a:ln/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20" name="Text 14"/>
            <p:cNvSpPr/>
            <p:nvPr/>
          </p:nvSpPr>
          <p:spPr>
            <a:xfrm>
              <a:off x="9015187" y="4299358"/>
              <a:ext cx="2315026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fr-FR" sz="1900" b="1" noProof="0" dirty="0">
                  <a:solidFill>
                    <a:srgbClr val="328490"/>
                  </a:solidFill>
                  <a:latin typeface="Josefin Sans" pitchFamily="34" charset="0"/>
                  <a:ea typeface="Josefin Sans" pitchFamily="34" charset="-122"/>
                  <a:cs typeface="Josefin Sans" pitchFamily="34" charset="-120"/>
                </a:rPr>
                <a:t>Compatible </a:t>
              </a:r>
              <a:r>
                <a:rPr lang="fr-FR" sz="1900" b="1" noProof="0" dirty="0" err="1">
                  <a:solidFill>
                    <a:srgbClr val="328490"/>
                  </a:solidFill>
                  <a:latin typeface="Josefin Sans" pitchFamily="34" charset="0"/>
                  <a:ea typeface="Josefin Sans" pitchFamily="34" charset="-122"/>
                  <a:cs typeface="Josefin Sans" pitchFamily="34" charset="-120"/>
                </a:rPr>
                <a:t>ResNet</a:t>
              </a:r>
              <a:endParaRPr lang="fr-FR" sz="1900" noProof="0" dirty="0"/>
            </a:p>
          </p:txBody>
        </p:sp>
        <p:sp>
          <p:nvSpPr>
            <p:cNvPr id="21" name="Text 15"/>
            <p:cNvSpPr/>
            <p:nvPr/>
          </p:nvSpPr>
          <p:spPr>
            <a:xfrm>
              <a:off x="8284464" y="5142450"/>
              <a:ext cx="3017520" cy="9383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ct val="100000"/>
                </a:lnSpc>
                <a:buNone/>
              </a:pPr>
              <a:r>
                <a:rPr lang="fr-FR" sz="1350" noProof="0" dirty="0">
                  <a:solidFill>
                    <a:srgbClr val="464646"/>
                  </a:solidFill>
                  <a:latin typeface="Josefin Sans" pitchFamily="34" charset="0"/>
                  <a:ea typeface="Josefin Sans" pitchFamily="34" charset="-122"/>
                  <a:cs typeface="Josefin Sans" pitchFamily="34" charset="-120"/>
                </a:rPr>
                <a:t>Format directement exploitable par un CNN pré-entraîné sur </a:t>
              </a:r>
              <a:r>
                <a:rPr lang="fr-FR" sz="1350" noProof="0" dirty="0" err="1">
                  <a:solidFill>
                    <a:srgbClr val="464646"/>
                  </a:solidFill>
                  <a:latin typeface="Josefin Sans" pitchFamily="34" charset="0"/>
                  <a:ea typeface="Josefin Sans" pitchFamily="34" charset="-122"/>
                  <a:cs typeface="Josefin Sans" pitchFamily="34" charset="-120"/>
                </a:rPr>
                <a:t>ImageNet</a:t>
              </a:r>
              <a:endParaRPr lang="fr-FR" sz="1350" noProof="0" dirty="0"/>
            </a:p>
          </p:txBody>
        </p:sp>
        <p:grpSp>
          <p:nvGrpSpPr>
            <p:cNvPr id="22" name="Groupe 21">
              <a:extLst>
                <a:ext uri="{FF2B5EF4-FFF2-40B4-BE49-F238E27FC236}">
                  <a16:creationId xmlns:a16="http://schemas.microsoft.com/office/drawing/2014/main" id="{121D9B08-B7DB-BB55-85FD-F9CE5F414AFC}"/>
                </a:ext>
              </a:extLst>
            </p:cNvPr>
            <p:cNvGrpSpPr/>
            <p:nvPr/>
          </p:nvGrpSpPr>
          <p:grpSpPr>
            <a:xfrm>
              <a:off x="8416584" y="4384527"/>
              <a:ext cx="284400" cy="284400"/>
              <a:chOff x="2239433" y="1591492"/>
              <a:chExt cx="723414" cy="677333"/>
            </a:xfrm>
            <a:solidFill>
              <a:schemeClr val="bg1"/>
            </a:solidFill>
          </p:grpSpPr>
          <p:pic>
            <p:nvPicPr>
              <p:cNvPr id="23" name="Graphique 22" descr="Cerveau côté droit avec un remplissage uni">
                <a:extLst>
                  <a:ext uri="{FF2B5EF4-FFF2-40B4-BE49-F238E27FC236}">
                    <a16:creationId xmlns:a16="http://schemas.microsoft.com/office/drawing/2014/main" id="{C37BD15F-9B3C-D600-D1A5-23BBEAC68BF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rcRect l="10503" t="12371" r="50146" b="13556"/>
              <a:stretch>
                <a:fillRect/>
              </a:stretch>
            </p:blipFill>
            <p:spPr>
              <a:xfrm>
                <a:off x="2239433" y="1591492"/>
                <a:ext cx="359834" cy="677333"/>
              </a:xfrm>
              <a:prstGeom prst="rect">
                <a:avLst/>
              </a:prstGeom>
            </p:spPr>
          </p:pic>
          <p:pic>
            <p:nvPicPr>
              <p:cNvPr id="24" name="Graphique 23" descr="Cerveau côté droit avec un remplissage uni">
                <a:extLst>
                  <a:ext uri="{FF2B5EF4-FFF2-40B4-BE49-F238E27FC236}">
                    <a16:creationId xmlns:a16="http://schemas.microsoft.com/office/drawing/2014/main" id="{1866D394-5621-E628-001C-6B9F69C0B0C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rcRect l="10503" t="12371" r="50146" b="13556"/>
              <a:stretch>
                <a:fillRect/>
              </a:stretch>
            </p:blipFill>
            <p:spPr>
              <a:xfrm flipH="1">
                <a:off x="2603013" y="1591492"/>
                <a:ext cx="359834" cy="677333"/>
              </a:xfrm>
              <a:prstGeom prst="rect">
                <a:avLst/>
              </a:prstGeom>
            </p:spPr>
          </p:pic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1945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b="1" kern="0" spc="300" noProof="0" dirty="0">
                <a:solidFill>
                  <a:srgbClr val="6BA6AF"/>
                </a:solidFill>
                <a:latin typeface="Josefin Sans" pitchFamily="34" charset="0"/>
                <a:ea typeface="Josefin Sans" pitchFamily="34" charset="-122"/>
                <a:cs typeface="Josefin Sans" pitchFamily="34" charset="-120"/>
              </a:rPr>
              <a:t>LA DÉMARCHE</a:t>
            </a:r>
            <a:endParaRPr lang="fr-FR" sz="1200" noProof="0" dirty="0"/>
          </a:p>
        </p:txBody>
      </p:sp>
      <p:sp>
        <p:nvSpPr>
          <p:cNvPr id="3" name="Text 1"/>
          <p:cNvSpPr/>
          <p:nvPr/>
        </p:nvSpPr>
        <p:spPr>
          <a:xfrm>
            <a:off x="640080" y="409092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3000" b="1" noProof="0" dirty="0">
                <a:solidFill>
                  <a:srgbClr val="328490"/>
                </a:solidFill>
                <a:latin typeface="Josefin Sans" pitchFamily="34" charset="0"/>
                <a:ea typeface="Josefin Sans" pitchFamily="34" charset="-122"/>
                <a:cs typeface="Josefin Sans" pitchFamily="34" charset="-120"/>
              </a:rPr>
              <a:t>Trois temps : représenter, structurer, apprendre</a:t>
            </a:r>
            <a:endParaRPr lang="fr-FR" sz="3000" noProof="0" dirty="0"/>
          </a:p>
        </p:txBody>
      </p:sp>
      <p:grpSp>
        <p:nvGrpSpPr>
          <p:cNvPr id="27" name="Groupe 26">
            <a:extLst>
              <a:ext uri="{FF2B5EF4-FFF2-40B4-BE49-F238E27FC236}">
                <a16:creationId xmlns:a16="http://schemas.microsoft.com/office/drawing/2014/main" id="{5418CD05-3671-B702-3A35-4F748F0E5726}"/>
              </a:ext>
            </a:extLst>
          </p:cNvPr>
          <p:cNvGrpSpPr/>
          <p:nvPr/>
        </p:nvGrpSpPr>
        <p:grpSpPr>
          <a:xfrm>
            <a:off x="4325112" y="1413463"/>
            <a:ext cx="3502152" cy="3888787"/>
            <a:chOff x="4325112" y="1600200"/>
            <a:chExt cx="3502152" cy="3888787"/>
          </a:xfrm>
        </p:grpSpPr>
        <p:sp>
          <p:nvSpPr>
            <p:cNvPr id="10" name="Shape 7"/>
            <p:cNvSpPr/>
            <p:nvPr/>
          </p:nvSpPr>
          <p:spPr>
            <a:xfrm>
              <a:off x="4325112" y="1600200"/>
              <a:ext cx="3502152" cy="3888787"/>
            </a:xfrm>
            <a:prstGeom prst="roundRect">
              <a:avLst>
                <a:gd name="adj" fmla="val 2350"/>
              </a:avLst>
            </a:prstGeom>
            <a:solidFill>
              <a:srgbClr val="FFFFFF"/>
            </a:solidFill>
            <a:ln/>
            <a:effectLst>
              <a:outerShdw blurRad="101600" dist="38100" dir="54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11" name="Shape 8"/>
            <p:cNvSpPr/>
            <p:nvPr/>
          </p:nvSpPr>
          <p:spPr>
            <a:xfrm>
              <a:off x="4643161" y="2016708"/>
              <a:ext cx="640080" cy="640080"/>
            </a:xfrm>
            <a:prstGeom prst="ellipse">
              <a:avLst/>
            </a:prstGeom>
            <a:solidFill>
              <a:srgbClr val="328490"/>
            </a:solidFill>
            <a:ln/>
          </p:spPr>
          <p:txBody>
            <a:bodyPr/>
            <a:lstStyle/>
            <a:p>
              <a:endParaRPr lang="fr-FR" noProof="0" dirty="0"/>
            </a:p>
          </p:txBody>
        </p:sp>
        <p:pic>
          <p:nvPicPr>
            <p:cNvPr id="12" name="Image 1" descr="Hiérarchie avec un remplissage uni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4796780" y="2170327"/>
              <a:ext cx="332842" cy="332842"/>
            </a:xfrm>
            <a:prstGeom prst="rect">
              <a:avLst/>
            </a:prstGeom>
          </p:spPr>
        </p:pic>
        <p:sp>
          <p:nvSpPr>
            <p:cNvPr id="13" name="Text 9"/>
            <p:cNvSpPr/>
            <p:nvPr/>
          </p:nvSpPr>
          <p:spPr>
            <a:xfrm>
              <a:off x="6950027" y="1949261"/>
              <a:ext cx="731520" cy="8229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fr-FR" sz="5200" b="1" noProof="0" dirty="0">
                  <a:solidFill>
                    <a:srgbClr val="E4EEF1"/>
                  </a:solidFill>
                  <a:latin typeface="Josefin Sans" pitchFamily="34" charset="0"/>
                  <a:ea typeface="Josefin Sans" pitchFamily="34" charset="-122"/>
                  <a:cs typeface="Josefin Sans" pitchFamily="34" charset="-120"/>
                </a:rPr>
                <a:t>2</a:t>
              </a:r>
              <a:endParaRPr lang="fr-FR" sz="5200" noProof="0" dirty="0"/>
            </a:p>
          </p:txBody>
        </p:sp>
        <p:sp>
          <p:nvSpPr>
            <p:cNvPr id="14" name="Text 10"/>
            <p:cNvSpPr/>
            <p:nvPr/>
          </p:nvSpPr>
          <p:spPr>
            <a:xfrm>
              <a:off x="5418681" y="2108148"/>
              <a:ext cx="1788569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fr-FR" sz="2400" b="1" noProof="0" dirty="0">
                  <a:solidFill>
                    <a:srgbClr val="328490"/>
                  </a:solidFill>
                  <a:latin typeface="Josefin Sans" pitchFamily="34" charset="0"/>
                  <a:ea typeface="Josefin Sans" pitchFamily="34" charset="-122"/>
                  <a:cs typeface="Josefin Sans" pitchFamily="34" charset="-120"/>
                </a:rPr>
                <a:t>Structurer</a:t>
              </a:r>
              <a:endParaRPr lang="fr-FR" sz="2400" noProof="0" dirty="0"/>
            </a:p>
          </p:txBody>
        </p:sp>
        <p:sp>
          <p:nvSpPr>
            <p:cNvPr id="15" name="Text 11"/>
            <p:cNvSpPr/>
            <p:nvPr/>
          </p:nvSpPr>
          <p:spPr>
            <a:xfrm>
              <a:off x="4645152" y="3196206"/>
              <a:ext cx="2971800" cy="193083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342900" indent="-342900">
                <a:lnSpc>
                  <a:spcPct val="105000"/>
                </a:lnSpc>
                <a:spcAft>
                  <a:spcPts val="700"/>
                </a:spcAft>
                <a:buSzPct val="100000"/>
                <a:buChar char="•"/>
              </a:pPr>
              <a:r>
                <a:rPr lang="fr-FR" sz="1400" noProof="0" dirty="0">
                  <a:solidFill>
                    <a:srgbClr val="464646"/>
                  </a:solidFill>
                  <a:latin typeface="Josefin Sans" pitchFamily="34" charset="0"/>
                  <a:ea typeface="Josefin Sans" pitchFamily="34" charset="-122"/>
                  <a:cs typeface="Josefin Sans" pitchFamily="34" charset="-120"/>
                </a:rPr>
                <a:t>Réduction PCA puis t-SNE pour visualiser en 2D</a:t>
              </a:r>
              <a:endParaRPr lang="fr-FR" sz="1400" noProof="0" dirty="0"/>
            </a:p>
            <a:p>
              <a:pPr marL="342900" indent="-342900">
                <a:lnSpc>
                  <a:spcPct val="105000"/>
                </a:lnSpc>
                <a:spcAft>
                  <a:spcPts val="700"/>
                </a:spcAft>
                <a:buSzPct val="100000"/>
                <a:buChar char="•"/>
              </a:pPr>
              <a:r>
                <a:rPr lang="fr-FR" sz="1400" noProof="0" dirty="0">
                  <a:solidFill>
                    <a:srgbClr val="464646"/>
                  </a:solidFill>
                  <a:latin typeface="Josefin Sans" pitchFamily="34" charset="0"/>
                  <a:ea typeface="Josefin Sans" pitchFamily="34" charset="-122"/>
                  <a:cs typeface="Josefin Sans" pitchFamily="34" charset="-120"/>
                </a:rPr>
                <a:t>Clustering pour regrouper sans labels</a:t>
              </a:r>
              <a:endParaRPr lang="fr-FR" sz="1400" noProof="0" dirty="0"/>
            </a:p>
            <a:p>
              <a:pPr marL="342900" indent="-342900">
                <a:lnSpc>
                  <a:spcPct val="105000"/>
                </a:lnSpc>
                <a:buSzPct val="100000"/>
                <a:buChar char="•"/>
              </a:pPr>
              <a:r>
                <a:rPr lang="fr-FR" sz="1400" noProof="0" dirty="0">
                  <a:solidFill>
                    <a:srgbClr val="464646"/>
                  </a:solidFill>
                  <a:latin typeface="Josefin Sans" pitchFamily="34" charset="0"/>
                  <a:ea typeface="Josefin Sans" pitchFamily="34" charset="-122"/>
                  <a:cs typeface="Josefin Sans" pitchFamily="34" charset="-120"/>
                </a:rPr>
                <a:t>Attribution de labels « faibles » aux 1 406 images</a:t>
              </a:r>
              <a:endParaRPr lang="fr-FR" sz="1400" noProof="0" dirty="0"/>
            </a:p>
          </p:txBody>
        </p:sp>
      </p:grpSp>
      <p:grpSp>
        <p:nvGrpSpPr>
          <p:cNvPr id="28" name="Groupe 27">
            <a:extLst>
              <a:ext uri="{FF2B5EF4-FFF2-40B4-BE49-F238E27FC236}">
                <a16:creationId xmlns:a16="http://schemas.microsoft.com/office/drawing/2014/main" id="{B23E9543-3237-E583-2A18-3458EB4F3395}"/>
              </a:ext>
            </a:extLst>
          </p:cNvPr>
          <p:cNvGrpSpPr/>
          <p:nvPr/>
        </p:nvGrpSpPr>
        <p:grpSpPr>
          <a:xfrm>
            <a:off x="8010144" y="1413463"/>
            <a:ext cx="3502152" cy="3888787"/>
            <a:chOff x="8010144" y="1600200"/>
            <a:chExt cx="3502152" cy="3888787"/>
          </a:xfrm>
        </p:grpSpPr>
        <p:sp>
          <p:nvSpPr>
            <p:cNvPr id="16" name="Shape 12"/>
            <p:cNvSpPr/>
            <p:nvPr/>
          </p:nvSpPr>
          <p:spPr>
            <a:xfrm>
              <a:off x="8010144" y="1600200"/>
              <a:ext cx="3502152" cy="3888787"/>
            </a:xfrm>
            <a:prstGeom prst="roundRect">
              <a:avLst>
                <a:gd name="adj" fmla="val 2350"/>
              </a:avLst>
            </a:prstGeom>
            <a:solidFill>
              <a:srgbClr val="FFFFFF"/>
            </a:solidFill>
            <a:ln/>
            <a:effectLst>
              <a:outerShdw blurRad="101600" dist="38100" dir="54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17" name="Shape 13"/>
            <p:cNvSpPr/>
            <p:nvPr/>
          </p:nvSpPr>
          <p:spPr>
            <a:xfrm>
              <a:off x="8330184" y="2016708"/>
              <a:ext cx="640080" cy="640080"/>
            </a:xfrm>
            <a:prstGeom prst="ellipse">
              <a:avLst/>
            </a:prstGeom>
            <a:solidFill>
              <a:srgbClr val="328490"/>
            </a:solidFill>
            <a:ln/>
          </p:spPr>
          <p:txBody>
            <a:bodyPr/>
            <a:lstStyle/>
            <a:p>
              <a:endParaRPr lang="fr-FR" noProof="0" dirty="0"/>
            </a:p>
          </p:txBody>
        </p:sp>
        <p:pic>
          <p:nvPicPr>
            <p:cNvPr id="18" name="Image 2" descr="Balance de la justice avec un remplissage uni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8483803" y="2170327"/>
              <a:ext cx="332842" cy="332842"/>
            </a:xfrm>
            <a:prstGeom prst="rect">
              <a:avLst/>
            </a:prstGeom>
          </p:spPr>
        </p:pic>
        <p:sp>
          <p:nvSpPr>
            <p:cNvPr id="19" name="Text 14"/>
            <p:cNvSpPr/>
            <p:nvPr/>
          </p:nvSpPr>
          <p:spPr>
            <a:xfrm>
              <a:off x="10627929" y="1943556"/>
              <a:ext cx="731520" cy="8229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fr-FR" sz="5200" b="1" noProof="0" dirty="0">
                  <a:solidFill>
                    <a:srgbClr val="E4EEF1"/>
                  </a:solidFill>
                  <a:latin typeface="Josefin Sans" pitchFamily="34" charset="0"/>
                  <a:ea typeface="Josefin Sans" pitchFamily="34" charset="-122"/>
                  <a:cs typeface="Josefin Sans" pitchFamily="34" charset="-120"/>
                </a:rPr>
                <a:t>3</a:t>
              </a:r>
              <a:endParaRPr lang="fr-FR" sz="5200" noProof="0" dirty="0"/>
            </a:p>
          </p:txBody>
        </p:sp>
        <p:sp>
          <p:nvSpPr>
            <p:cNvPr id="20" name="Text 15"/>
            <p:cNvSpPr/>
            <p:nvPr/>
          </p:nvSpPr>
          <p:spPr>
            <a:xfrm>
              <a:off x="9111015" y="2108148"/>
              <a:ext cx="1799958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fr-FR" sz="2400" b="1" noProof="0" dirty="0">
                  <a:solidFill>
                    <a:srgbClr val="328490"/>
                  </a:solidFill>
                  <a:latin typeface="Josefin Sans" pitchFamily="34" charset="0"/>
                  <a:ea typeface="Josefin Sans" pitchFamily="34" charset="-122"/>
                  <a:cs typeface="Josefin Sans" pitchFamily="34" charset="-120"/>
                </a:rPr>
                <a:t>Apprendre</a:t>
              </a:r>
              <a:endParaRPr lang="fr-FR" sz="2400" noProof="0" dirty="0"/>
            </a:p>
          </p:txBody>
        </p:sp>
        <p:sp>
          <p:nvSpPr>
            <p:cNvPr id="21" name="Text 16"/>
            <p:cNvSpPr/>
            <p:nvPr/>
          </p:nvSpPr>
          <p:spPr>
            <a:xfrm>
              <a:off x="8330184" y="3196206"/>
              <a:ext cx="2971800" cy="193083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342900" indent="-342900">
                <a:lnSpc>
                  <a:spcPct val="105000"/>
                </a:lnSpc>
                <a:spcAft>
                  <a:spcPts val="700"/>
                </a:spcAft>
                <a:buSzPct val="100000"/>
                <a:buChar char="•"/>
              </a:pPr>
              <a:r>
                <a:rPr lang="fr-FR" sz="1400" noProof="0" dirty="0">
                  <a:solidFill>
                    <a:srgbClr val="464646"/>
                  </a:solidFill>
                  <a:latin typeface="Josefin Sans" pitchFamily="34" charset="0"/>
                  <a:ea typeface="Josefin Sans" pitchFamily="34" charset="-122"/>
                  <a:cs typeface="Josefin Sans" pitchFamily="34" charset="-120"/>
                </a:rPr>
                <a:t>Fine-tuning ResNet18 en deux phases</a:t>
              </a:r>
              <a:endParaRPr lang="fr-FR" sz="1400" noProof="0" dirty="0"/>
            </a:p>
            <a:p>
              <a:pPr marL="342900" indent="-342900">
                <a:lnSpc>
                  <a:spcPct val="105000"/>
                </a:lnSpc>
                <a:spcAft>
                  <a:spcPts val="700"/>
                </a:spcAft>
                <a:buSzPct val="100000"/>
                <a:buChar char="•"/>
              </a:pPr>
              <a:r>
                <a:rPr lang="fr-FR" sz="1400" noProof="0" dirty="0">
                  <a:solidFill>
                    <a:srgbClr val="464646"/>
                  </a:solidFill>
                  <a:latin typeface="Josefin Sans" pitchFamily="34" charset="0"/>
                  <a:ea typeface="Josefin Sans" pitchFamily="34" charset="-122"/>
                  <a:cs typeface="Josefin Sans" pitchFamily="34" charset="-120"/>
                </a:rPr>
                <a:t>D'abord le jeu faible, puis le jeu fort</a:t>
              </a:r>
              <a:endParaRPr lang="fr-FR" sz="1400" noProof="0" dirty="0"/>
            </a:p>
            <a:p>
              <a:pPr marL="342900" indent="-342900">
                <a:lnSpc>
                  <a:spcPct val="105000"/>
                </a:lnSpc>
                <a:buSzPct val="100000"/>
                <a:buChar char="•"/>
              </a:pPr>
              <a:r>
                <a:rPr lang="fr-FR" sz="1400" noProof="0" dirty="0">
                  <a:solidFill>
                    <a:srgbClr val="464646"/>
                  </a:solidFill>
                  <a:latin typeface="Josefin Sans" pitchFamily="34" charset="0"/>
                  <a:ea typeface="Josefin Sans" pitchFamily="34" charset="-122"/>
                  <a:cs typeface="Josefin Sans" pitchFamily="34" charset="-120"/>
                </a:rPr>
                <a:t>Comparaison face à une </a:t>
              </a:r>
              <a:r>
                <a:rPr lang="fr-FR" sz="1400" noProof="0" dirty="0" err="1">
                  <a:solidFill>
                    <a:srgbClr val="464646"/>
                  </a:solidFill>
                  <a:latin typeface="Josefin Sans" pitchFamily="34" charset="0"/>
                  <a:ea typeface="Josefin Sans" pitchFamily="34" charset="-122"/>
                  <a:cs typeface="Josefin Sans" pitchFamily="34" charset="-120"/>
                </a:rPr>
                <a:t>baseline</a:t>
              </a:r>
              <a:r>
                <a:rPr lang="fr-FR" sz="1400" noProof="0" dirty="0">
                  <a:solidFill>
                    <a:srgbClr val="464646"/>
                  </a:solidFill>
                  <a:latin typeface="Josefin Sans" pitchFamily="34" charset="0"/>
                  <a:ea typeface="Josefin Sans" pitchFamily="34" charset="-122"/>
                  <a:cs typeface="Josefin Sans" pitchFamily="34" charset="-120"/>
                </a:rPr>
                <a:t> supervisée</a:t>
              </a:r>
              <a:endParaRPr lang="fr-FR" sz="1400" noProof="0" dirty="0"/>
            </a:p>
          </p:txBody>
        </p:sp>
      </p:grpSp>
      <p:sp>
        <p:nvSpPr>
          <p:cNvPr id="22" name="Text 17"/>
          <p:cNvSpPr/>
          <p:nvPr/>
        </p:nvSpPr>
        <p:spPr>
          <a:xfrm>
            <a:off x="640080" y="5694633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350" i="1" noProof="0" dirty="0">
                <a:solidFill>
                  <a:srgbClr val="556269"/>
                </a:solidFill>
                <a:latin typeface="Josefin Sans" pitchFamily="34" charset="0"/>
                <a:ea typeface="Josefin Sans" pitchFamily="34" charset="-122"/>
                <a:cs typeface="Josefin Sans" pitchFamily="34" charset="-120"/>
              </a:rPr>
              <a:t>Règle métier tenue de bout en bout : les données faiblement et fortement labellisées ne sont jamais mélangées, et le jeu de test reste invisible pendant tout l'entraînement.</a:t>
            </a:r>
            <a:endParaRPr lang="fr-FR" sz="1350" noProof="0" dirty="0"/>
          </a:p>
        </p:txBody>
      </p:sp>
      <p:grpSp>
        <p:nvGrpSpPr>
          <p:cNvPr id="26" name="Groupe 25">
            <a:extLst>
              <a:ext uri="{FF2B5EF4-FFF2-40B4-BE49-F238E27FC236}">
                <a16:creationId xmlns:a16="http://schemas.microsoft.com/office/drawing/2014/main" id="{BB9F4E09-CB41-4026-12DE-3A8ABCACAE1B}"/>
              </a:ext>
            </a:extLst>
          </p:cNvPr>
          <p:cNvGrpSpPr/>
          <p:nvPr/>
        </p:nvGrpSpPr>
        <p:grpSpPr>
          <a:xfrm>
            <a:off x="640080" y="1413463"/>
            <a:ext cx="3502152" cy="3888787"/>
            <a:chOff x="640080" y="1600200"/>
            <a:chExt cx="3502152" cy="3888787"/>
          </a:xfrm>
        </p:grpSpPr>
        <p:sp>
          <p:nvSpPr>
            <p:cNvPr id="4" name="Shape 2"/>
            <p:cNvSpPr/>
            <p:nvPr/>
          </p:nvSpPr>
          <p:spPr>
            <a:xfrm>
              <a:off x="640080" y="1600200"/>
              <a:ext cx="3502152" cy="3888787"/>
            </a:xfrm>
            <a:prstGeom prst="roundRect">
              <a:avLst>
                <a:gd name="adj" fmla="val 2350"/>
              </a:avLst>
            </a:prstGeom>
            <a:solidFill>
              <a:srgbClr val="FFFFFF"/>
            </a:solidFill>
            <a:ln/>
            <a:effectLst>
              <a:outerShdw blurRad="101600" dist="38100" dir="54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5" name="Shape 3"/>
            <p:cNvSpPr/>
            <p:nvPr/>
          </p:nvSpPr>
          <p:spPr>
            <a:xfrm>
              <a:off x="960120" y="2016708"/>
              <a:ext cx="640080" cy="640080"/>
            </a:xfrm>
            <a:prstGeom prst="ellipse">
              <a:avLst/>
            </a:prstGeom>
            <a:solidFill>
              <a:srgbClr val="328490"/>
            </a:solidFill>
            <a:ln/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7" name="Text 4"/>
            <p:cNvSpPr/>
            <p:nvPr/>
          </p:nvSpPr>
          <p:spPr>
            <a:xfrm>
              <a:off x="3447875" y="1943556"/>
              <a:ext cx="533125" cy="8229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fr-FR" sz="5200" b="1" noProof="0" dirty="0">
                  <a:solidFill>
                    <a:srgbClr val="E4EEF1"/>
                  </a:solidFill>
                  <a:latin typeface="Josefin Sans" pitchFamily="34" charset="0"/>
                  <a:ea typeface="Josefin Sans" pitchFamily="34" charset="-122"/>
                  <a:cs typeface="Josefin Sans" pitchFamily="34" charset="-120"/>
                </a:rPr>
                <a:t>1</a:t>
              </a:r>
              <a:endParaRPr lang="fr-FR" sz="5200" noProof="0" dirty="0"/>
            </a:p>
          </p:txBody>
        </p:sp>
        <p:sp>
          <p:nvSpPr>
            <p:cNvPr id="8" name="Text 5"/>
            <p:cNvSpPr/>
            <p:nvPr/>
          </p:nvSpPr>
          <p:spPr>
            <a:xfrm>
              <a:off x="1737868" y="2108148"/>
              <a:ext cx="1837182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fr-FR" sz="2400" b="1" noProof="0" dirty="0">
                  <a:solidFill>
                    <a:srgbClr val="328490"/>
                  </a:solidFill>
                  <a:latin typeface="Josefin Sans" pitchFamily="34" charset="0"/>
                  <a:ea typeface="Josefin Sans" pitchFamily="34" charset="-122"/>
                  <a:cs typeface="Josefin Sans" pitchFamily="34" charset="-120"/>
                </a:rPr>
                <a:t>Représenter</a:t>
              </a:r>
              <a:endParaRPr lang="fr-FR" sz="2400" noProof="0" dirty="0"/>
            </a:p>
          </p:txBody>
        </p:sp>
        <p:sp>
          <p:nvSpPr>
            <p:cNvPr id="9" name="Text 6"/>
            <p:cNvSpPr/>
            <p:nvPr/>
          </p:nvSpPr>
          <p:spPr>
            <a:xfrm>
              <a:off x="960120" y="3196206"/>
              <a:ext cx="2971800" cy="193083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342900" indent="-342900">
                <a:lnSpc>
                  <a:spcPct val="105000"/>
                </a:lnSpc>
                <a:spcAft>
                  <a:spcPts val="700"/>
                </a:spcAft>
                <a:buSzPct val="100000"/>
                <a:buChar char="•"/>
              </a:pPr>
              <a:r>
                <a:rPr lang="fr-FR" sz="1400" noProof="0" dirty="0">
                  <a:solidFill>
                    <a:srgbClr val="464646"/>
                  </a:solidFill>
                  <a:latin typeface="Josefin Sans" pitchFamily="34" charset="0"/>
                  <a:ea typeface="Josefin Sans" pitchFamily="34" charset="-122"/>
                  <a:cs typeface="Josefin Sans" pitchFamily="34" charset="-120"/>
                </a:rPr>
                <a:t>ResNet18 pré-entraîné (poids gelés)</a:t>
              </a:r>
              <a:endParaRPr lang="fr-FR" sz="1400" noProof="0" dirty="0"/>
            </a:p>
            <a:p>
              <a:pPr marL="342900" indent="-342900">
                <a:lnSpc>
                  <a:spcPct val="105000"/>
                </a:lnSpc>
                <a:spcAft>
                  <a:spcPts val="700"/>
                </a:spcAft>
                <a:buSzPct val="100000"/>
                <a:buChar char="•"/>
              </a:pPr>
              <a:r>
                <a:rPr lang="fr-FR" sz="1400" noProof="0" dirty="0">
                  <a:solidFill>
                    <a:srgbClr val="464646"/>
                  </a:solidFill>
                  <a:latin typeface="Josefin Sans" pitchFamily="34" charset="0"/>
                  <a:ea typeface="Josefin Sans" pitchFamily="34" charset="-122"/>
                  <a:cs typeface="Josefin Sans" pitchFamily="34" charset="-120"/>
                </a:rPr>
                <a:t>Chaque IRM → vecteur de 512 nombres (</a:t>
              </a:r>
              <a:r>
                <a:rPr lang="fr-FR" sz="1400" noProof="0" dirty="0" err="1">
                  <a:solidFill>
                    <a:srgbClr val="464646"/>
                  </a:solidFill>
                  <a:latin typeface="Josefin Sans" pitchFamily="34" charset="0"/>
                  <a:ea typeface="Josefin Sans" pitchFamily="34" charset="-122"/>
                  <a:cs typeface="Josefin Sans" pitchFamily="34" charset="-120"/>
                </a:rPr>
                <a:t>embedding</a:t>
              </a:r>
              <a:r>
                <a:rPr lang="fr-FR" sz="1400" noProof="0" dirty="0">
                  <a:solidFill>
                    <a:srgbClr val="464646"/>
                  </a:solidFill>
                  <a:latin typeface="Josefin Sans" pitchFamily="34" charset="0"/>
                  <a:ea typeface="Josefin Sans" pitchFamily="34" charset="-122"/>
                  <a:cs typeface="Josefin Sans" pitchFamily="34" charset="-120"/>
                </a:rPr>
                <a:t>)</a:t>
              </a:r>
              <a:endParaRPr lang="fr-FR" sz="1400" noProof="0" dirty="0"/>
            </a:p>
            <a:p>
              <a:pPr marL="342900" indent="-342900">
                <a:lnSpc>
                  <a:spcPct val="105000"/>
                </a:lnSpc>
                <a:buSzPct val="100000"/>
                <a:buChar char="•"/>
              </a:pPr>
              <a:r>
                <a:rPr lang="fr-FR" sz="1400" noProof="0" dirty="0">
                  <a:solidFill>
                    <a:srgbClr val="464646"/>
                  </a:solidFill>
                  <a:latin typeface="Josefin Sans" pitchFamily="34" charset="0"/>
                  <a:ea typeface="Josefin Sans" pitchFamily="34" charset="-122"/>
                  <a:cs typeface="Josefin Sans" pitchFamily="34" charset="-120"/>
                </a:rPr>
                <a:t>Aucun entraînement à ce stade</a:t>
              </a:r>
              <a:endParaRPr lang="fr-FR" sz="1400" noProof="0" dirty="0"/>
            </a:p>
          </p:txBody>
        </p:sp>
        <p:grpSp>
          <p:nvGrpSpPr>
            <p:cNvPr id="23" name="Groupe 22">
              <a:extLst>
                <a:ext uri="{FF2B5EF4-FFF2-40B4-BE49-F238E27FC236}">
                  <a16:creationId xmlns:a16="http://schemas.microsoft.com/office/drawing/2014/main" id="{0B8A748C-5D5D-73C4-29CC-D91131F0B134}"/>
                </a:ext>
              </a:extLst>
            </p:cNvPr>
            <p:cNvGrpSpPr/>
            <p:nvPr/>
          </p:nvGrpSpPr>
          <p:grpSpPr>
            <a:xfrm>
              <a:off x="1112760" y="2170451"/>
              <a:ext cx="334800" cy="334800"/>
              <a:chOff x="2239433" y="1591492"/>
              <a:chExt cx="723414" cy="677333"/>
            </a:xfrm>
            <a:solidFill>
              <a:schemeClr val="bg1"/>
            </a:solidFill>
          </p:grpSpPr>
          <p:pic>
            <p:nvPicPr>
              <p:cNvPr id="24" name="Graphique 23" descr="Cerveau côté droit avec un remplissage uni">
                <a:extLst>
                  <a:ext uri="{FF2B5EF4-FFF2-40B4-BE49-F238E27FC236}">
                    <a16:creationId xmlns:a16="http://schemas.microsoft.com/office/drawing/2014/main" id="{5E2D1793-EB3F-FC53-8F8C-F8CC4311D20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rcRect l="10503" t="12371" r="50146" b="13556"/>
              <a:stretch>
                <a:fillRect/>
              </a:stretch>
            </p:blipFill>
            <p:spPr>
              <a:xfrm>
                <a:off x="2239433" y="1591492"/>
                <a:ext cx="359834" cy="677333"/>
              </a:xfrm>
              <a:prstGeom prst="rect">
                <a:avLst/>
              </a:prstGeom>
            </p:spPr>
          </p:pic>
          <p:pic>
            <p:nvPicPr>
              <p:cNvPr id="25" name="Graphique 24" descr="Cerveau côté droit avec un remplissage uni">
                <a:extLst>
                  <a:ext uri="{FF2B5EF4-FFF2-40B4-BE49-F238E27FC236}">
                    <a16:creationId xmlns:a16="http://schemas.microsoft.com/office/drawing/2014/main" id="{55F09E16-B444-AF38-26C4-CE565ADC372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rcRect l="10503" t="12371" r="50146" b="13556"/>
              <a:stretch>
                <a:fillRect/>
              </a:stretch>
            </p:blipFill>
            <p:spPr>
              <a:xfrm flipH="1">
                <a:off x="2603013" y="1591492"/>
                <a:ext cx="359834" cy="677333"/>
              </a:xfrm>
              <a:prstGeom prst="rect">
                <a:avLst/>
              </a:prstGeom>
            </p:spPr>
          </p:pic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1945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b="1" kern="0" spc="300" noProof="0" dirty="0">
                <a:solidFill>
                  <a:srgbClr val="6BA6AF"/>
                </a:solidFill>
                <a:latin typeface="Josefin Sans" pitchFamily="34" charset="0"/>
                <a:ea typeface="Josefin Sans" pitchFamily="34" charset="-122"/>
                <a:cs typeface="Josefin Sans" pitchFamily="34" charset="-120"/>
              </a:rPr>
              <a:t>REPRÉSENTER · RÉDUIRE</a:t>
            </a:r>
            <a:endParaRPr lang="fr-FR" sz="1200" noProof="0" dirty="0"/>
          </a:p>
        </p:txBody>
      </p:sp>
      <p:sp>
        <p:nvSpPr>
          <p:cNvPr id="3" name="Text 1"/>
          <p:cNvSpPr/>
          <p:nvPr/>
        </p:nvSpPr>
        <p:spPr>
          <a:xfrm>
            <a:off x="640080" y="427606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3000" b="1" noProof="0" dirty="0">
                <a:solidFill>
                  <a:srgbClr val="328490"/>
                </a:solidFill>
                <a:latin typeface="Josefin Sans" pitchFamily="34" charset="0"/>
                <a:ea typeface="Josefin Sans" pitchFamily="34" charset="-122"/>
                <a:cs typeface="Josefin Sans" pitchFamily="34" charset="-120"/>
              </a:rPr>
              <a:t>Des </a:t>
            </a:r>
            <a:r>
              <a:rPr lang="fr-FR" sz="3000" b="1" noProof="0" dirty="0" err="1">
                <a:solidFill>
                  <a:srgbClr val="328490"/>
                </a:solidFill>
                <a:latin typeface="Josefin Sans" pitchFamily="34" charset="0"/>
                <a:ea typeface="Josefin Sans" pitchFamily="34" charset="-122"/>
                <a:cs typeface="Josefin Sans" pitchFamily="34" charset="-120"/>
              </a:rPr>
              <a:t>embeddings</a:t>
            </a:r>
            <a:r>
              <a:rPr lang="fr-FR" sz="3000" b="1" noProof="0" dirty="0">
                <a:solidFill>
                  <a:srgbClr val="328490"/>
                </a:solidFill>
                <a:latin typeface="Josefin Sans" pitchFamily="34" charset="0"/>
                <a:ea typeface="Josefin Sans" pitchFamily="34" charset="-122"/>
                <a:cs typeface="Josefin Sans" pitchFamily="34" charset="-120"/>
              </a:rPr>
              <a:t> ResNet18 à une carte en 2D</a:t>
            </a:r>
            <a:endParaRPr lang="fr-FR" sz="3000" noProof="0" dirty="0"/>
          </a:p>
        </p:txBody>
      </p:sp>
      <p:grpSp>
        <p:nvGrpSpPr>
          <p:cNvPr id="24" name="Groupe 23">
            <a:extLst>
              <a:ext uri="{FF2B5EF4-FFF2-40B4-BE49-F238E27FC236}">
                <a16:creationId xmlns:a16="http://schemas.microsoft.com/office/drawing/2014/main" id="{50679BBA-E920-486B-4DEC-1194BAE3A8DA}"/>
              </a:ext>
            </a:extLst>
          </p:cNvPr>
          <p:cNvGrpSpPr/>
          <p:nvPr/>
        </p:nvGrpSpPr>
        <p:grpSpPr>
          <a:xfrm>
            <a:off x="640080" y="1463040"/>
            <a:ext cx="5852160" cy="4666687"/>
            <a:chOff x="640080" y="1463040"/>
            <a:chExt cx="5852160" cy="4666687"/>
          </a:xfrm>
        </p:grpSpPr>
        <p:sp>
          <p:nvSpPr>
            <p:cNvPr id="4" name="Shape 2"/>
            <p:cNvSpPr/>
            <p:nvPr/>
          </p:nvSpPr>
          <p:spPr>
            <a:xfrm>
              <a:off x="640080" y="1463040"/>
              <a:ext cx="5852160" cy="4649231"/>
            </a:xfrm>
            <a:prstGeom prst="roundRect">
              <a:avLst>
                <a:gd name="adj" fmla="val 1770"/>
              </a:avLst>
            </a:prstGeom>
            <a:solidFill>
              <a:srgbClr val="FFFFFF"/>
            </a:solidFill>
            <a:ln/>
            <a:effectLst>
              <a:outerShdw blurRad="101600" dist="38100" dir="54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fr-FR" noProof="0" dirty="0"/>
            </a:p>
          </p:txBody>
        </p:sp>
        <p:pic>
          <p:nvPicPr>
            <p:cNvPr id="5" name="Image 0" descr="Projection t-SNE des embeddings ResNet18 : nuage de points formant plusieurs regroupements visuellement distincts.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22960" y="1645920"/>
              <a:ext cx="5486400" cy="4283471"/>
            </a:xfrm>
            <a:prstGeom prst="rect">
              <a:avLst/>
            </a:prstGeom>
          </p:spPr>
        </p:pic>
        <p:sp>
          <p:nvSpPr>
            <p:cNvPr id="6" name="Text 3"/>
            <p:cNvSpPr/>
            <p:nvPr/>
          </p:nvSpPr>
          <p:spPr>
            <a:xfrm>
              <a:off x="822960" y="5855407"/>
              <a:ext cx="54864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fr-FR" sz="1200" i="1" noProof="0" dirty="0">
                  <a:solidFill>
                    <a:srgbClr val="556269"/>
                  </a:solidFill>
                  <a:latin typeface="Josefin Sans" pitchFamily="34" charset="0"/>
                  <a:ea typeface="Josefin Sans" pitchFamily="34" charset="-122"/>
                  <a:cs typeface="Josefin Sans" pitchFamily="34" charset="-120"/>
                </a:rPr>
                <a:t>Projection t-SNE des 1 506 images</a:t>
              </a:r>
              <a:endParaRPr lang="fr-FR" sz="1200" noProof="0" dirty="0"/>
            </a:p>
          </p:txBody>
        </p:sp>
      </p:grpSp>
      <p:grpSp>
        <p:nvGrpSpPr>
          <p:cNvPr id="25" name="Groupe 24">
            <a:extLst>
              <a:ext uri="{FF2B5EF4-FFF2-40B4-BE49-F238E27FC236}">
                <a16:creationId xmlns:a16="http://schemas.microsoft.com/office/drawing/2014/main" id="{B804EDCA-9D70-4E3F-FE35-39BEBA822ECE}"/>
              </a:ext>
            </a:extLst>
          </p:cNvPr>
          <p:cNvGrpSpPr/>
          <p:nvPr/>
        </p:nvGrpSpPr>
        <p:grpSpPr>
          <a:xfrm>
            <a:off x="6799580" y="1585310"/>
            <a:ext cx="5230495" cy="892705"/>
            <a:chOff x="6799580" y="1686910"/>
            <a:chExt cx="5230495" cy="892705"/>
          </a:xfrm>
        </p:grpSpPr>
        <p:grpSp>
          <p:nvGrpSpPr>
            <p:cNvPr id="21" name="Groupe 20">
              <a:extLst>
                <a:ext uri="{FF2B5EF4-FFF2-40B4-BE49-F238E27FC236}">
                  <a16:creationId xmlns:a16="http://schemas.microsoft.com/office/drawing/2014/main" id="{8502B9B9-4EBA-7708-AC66-378165D412AE}"/>
                </a:ext>
              </a:extLst>
            </p:cNvPr>
            <p:cNvGrpSpPr/>
            <p:nvPr/>
          </p:nvGrpSpPr>
          <p:grpSpPr>
            <a:xfrm>
              <a:off x="6799580" y="1743890"/>
              <a:ext cx="548640" cy="548640"/>
              <a:chOff x="6903720" y="1489890"/>
              <a:chExt cx="548640" cy="548640"/>
            </a:xfrm>
          </p:grpSpPr>
          <p:sp>
            <p:nvSpPr>
              <p:cNvPr id="7" name="Shape 4"/>
              <p:cNvSpPr/>
              <p:nvPr/>
            </p:nvSpPr>
            <p:spPr>
              <a:xfrm>
                <a:off x="6903720" y="1489890"/>
                <a:ext cx="548640" cy="548640"/>
              </a:xfrm>
              <a:prstGeom prst="ellipse">
                <a:avLst/>
              </a:prstGeom>
              <a:solidFill>
                <a:srgbClr val="6BA6AF"/>
              </a:solidFill>
              <a:ln/>
            </p:spPr>
            <p:txBody>
              <a:bodyPr/>
              <a:lstStyle/>
              <a:p>
                <a:endParaRPr lang="fr-FR" noProof="0" dirty="0"/>
              </a:p>
            </p:txBody>
          </p:sp>
          <p:pic>
            <p:nvPicPr>
              <p:cNvPr id="8" name="Image 1" descr="Conception de couches avec un remplissage uni"/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rcRect/>
              <a:stretch/>
            </p:blipFill>
            <p:spPr>
              <a:xfrm>
                <a:off x="7035394" y="1621564"/>
                <a:ext cx="285293" cy="285293"/>
              </a:xfrm>
              <a:prstGeom prst="rect">
                <a:avLst/>
              </a:prstGeom>
            </p:spPr>
          </p:pic>
        </p:grpSp>
        <p:sp>
          <p:nvSpPr>
            <p:cNvPr id="9" name="Text 5"/>
            <p:cNvSpPr/>
            <p:nvPr/>
          </p:nvSpPr>
          <p:spPr>
            <a:xfrm>
              <a:off x="7549515" y="1686910"/>
              <a:ext cx="448056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fr-FR" sz="2000" b="1" noProof="0" dirty="0">
                  <a:solidFill>
                    <a:srgbClr val="328490"/>
                  </a:solidFill>
                  <a:latin typeface="Josefin Sans" pitchFamily="34" charset="0"/>
                  <a:ea typeface="Josefin Sans" pitchFamily="34" charset="-122"/>
                  <a:cs typeface="Josefin Sans" pitchFamily="34" charset="-120"/>
                </a:rPr>
                <a:t>Standardisation</a:t>
              </a:r>
              <a:endParaRPr lang="fr-FR" sz="2000" noProof="0" dirty="0"/>
            </a:p>
          </p:txBody>
        </p:sp>
        <p:sp>
          <p:nvSpPr>
            <p:cNvPr id="10" name="Text 6"/>
            <p:cNvSpPr/>
            <p:nvPr/>
          </p:nvSpPr>
          <p:spPr>
            <a:xfrm>
              <a:off x="7552690" y="2057400"/>
              <a:ext cx="4305935" cy="52221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ct val="100000"/>
                </a:lnSpc>
                <a:buNone/>
              </a:pPr>
              <a:r>
                <a:rPr lang="fr-FR" sz="1350" noProof="0" dirty="0">
                  <a:solidFill>
                    <a:srgbClr val="464646"/>
                  </a:solidFill>
                  <a:latin typeface="Josefin Sans" pitchFamily="34" charset="0"/>
                  <a:ea typeface="Josefin Sans" pitchFamily="34" charset="-122"/>
                  <a:cs typeface="Josefin Sans" pitchFamily="34" charset="-120"/>
                </a:rPr>
                <a:t>Chaque dimension recentrée : indispensable avant PCA et t-SNE</a:t>
              </a:r>
              <a:endParaRPr lang="fr-FR" sz="1350" noProof="0" dirty="0"/>
            </a:p>
          </p:txBody>
        </p:sp>
      </p:grpSp>
      <p:grpSp>
        <p:nvGrpSpPr>
          <p:cNvPr id="26" name="Groupe 25">
            <a:extLst>
              <a:ext uri="{FF2B5EF4-FFF2-40B4-BE49-F238E27FC236}">
                <a16:creationId xmlns:a16="http://schemas.microsoft.com/office/drawing/2014/main" id="{17F91558-FFFF-4ED5-A388-C4B708A63232}"/>
              </a:ext>
            </a:extLst>
          </p:cNvPr>
          <p:cNvGrpSpPr/>
          <p:nvPr/>
        </p:nvGrpSpPr>
        <p:grpSpPr>
          <a:xfrm>
            <a:off x="6795770" y="2916362"/>
            <a:ext cx="5237480" cy="606549"/>
            <a:chOff x="6795770" y="2922712"/>
            <a:chExt cx="5237480" cy="606549"/>
          </a:xfrm>
        </p:grpSpPr>
        <p:grpSp>
          <p:nvGrpSpPr>
            <p:cNvPr id="22" name="Groupe 21">
              <a:extLst>
                <a:ext uri="{FF2B5EF4-FFF2-40B4-BE49-F238E27FC236}">
                  <a16:creationId xmlns:a16="http://schemas.microsoft.com/office/drawing/2014/main" id="{BBEDA058-FCDA-C6C4-90F5-6E33208AC0D1}"/>
                </a:ext>
              </a:extLst>
            </p:cNvPr>
            <p:cNvGrpSpPr/>
            <p:nvPr/>
          </p:nvGrpSpPr>
          <p:grpSpPr>
            <a:xfrm>
              <a:off x="6795770" y="2972466"/>
              <a:ext cx="548640" cy="548640"/>
              <a:chOff x="6903720" y="2762916"/>
              <a:chExt cx="548640" cy="548640"/>
            </a:xfrm>
          </p:grpSpPr>
          <p:sp>
            <p:nvSpPr>
              <p:cNvPr id="11" name="Shape 7"/>
              <p:cNvSpPr/>
              <p:nvPr/>
            </p:nvSpPr>
            <p:spPr>
              <a:xfrm>
                <a:off x="6903720" y="2762916"/>
                <a:ext cx="548640" cy="548640"/>
              </a:xfrm>
              <a:prstGeom prst="ellipse">
                <a:avLst/>
              </a:prstGeom>
              <a:solidFill>
                <a:srgbClr val="6BA6AF"/>
              </a:solidFill>
              <a:ln/>
            </p:spPr>
            <p:txBody>
              <a:bodyPr/>
              <a:lstStyle/>
              <a:p>
                <a:endParaRPr lang="fr-FR" noProof="0" dirty="0"/>
              </a:p>
            </p:txBody>
          </p:sp>
          <p:pic>
            <p:nvPicPr>
              <p:cNvPr id="12" name="Image 2" descr="Réduire avec un remplissage uni"/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rcRect/>
              <a:stretch/>
            </p:blipFill>
            <p:spPr>
              <a:xfrm>
                <a:off x="7035394" y="2894590"/>
                <a:ext cx="285293" cy="285293"/>
              </a:xfrm>
              <a:prstGeom prst="rect">
                <a:avLst/>
              </a:prstGeom>
            </p:spPr>
          </p:pic>
        </p:grpSp>
        <p:sp>
          <p:nvSpPr>
            <p:cNvPr id="13" name="Text 8"/>
            <p:cNvSpPr/>
            <p:nvPr/>
          </p:nvSpPr>
          <p:spPr>
            <a:xfrm>
              <a:off x="7552690" y="2922712"/>
              <a:ext cx="448056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fr-FR" sz="2000" b="1" noProof="0" dirty="0">
                  <a:solidFill>
                    <a:srgbClr val="328490"/>
                  </a:solidFill>
                  <a:latin typeface="Josefin Sans" pitchFamily="34" charset="0"/>
                  <a:ea typeface="Josefin Sans" pitchFamily="34" charset="-122"/>
                  <a:cs typeface="Josefin Sans" pitchFamily="34" charset="-120"/>
                </a:rPr>
                <a:t>PCA  512 → 50</a:t>
              </a:r>
              <a:endParaRPr lang="fr-FR" sz="2000" noProof="0" dirty="0"/>
            </a:p>
          </p:txBody>
        </p:sp>
        <p:sp>
          <p:nvSpPr>
            <p:cNvPr id="14" name="Text 9"/>
            <p:cNvSpPr/>
            <p:nvPr/>
          </p:nvSpPr>
          <p:spPr>
            <a:xfrm>
              <a:off x="7549515" y="3271549"/>
              <a:ext cx="4309110" cy="2577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00000"/>
                </a:lnSpc>
                <a:buNone/>
              </a:pPr>
              <a:r>
                <a:rPr lang="fr-FR" sz="1350" noProof="0" dirty="0">
                  <a:solidFill>
                    <a:srgbClr val="464646"/>
                  </a:solidFill>
                  <a:latin typeface="Josefin Sans" pitchFamily="34" charset="0"/>
                  <a:ea typeface="Josefin Sans" pitchFamily="34" charset="-122"/>
                  <a:cs typeface="Josefin Sans" pitchFamily="34" charset="-120"/>
                </a:rPr>
                <a:t>71,57 % de la variance conservée, bruit et calcul réduits</a:t>
              </a:r>
              <a:endParaRPr lang="fr-FR" sz="1350" noProof="0" dirty="0"/>
            </a:p>
          </p:txBody>
        </p:sp>
      </p:grpSp>
      <p:grpSp>
        <p:nvGrpSpPr>
          <p:cNvPr id="27" name="Groupe 26">
            <a:extLst>
              <a:ext uri="{FF2B5EF4-FFF2-40B4-BE49-F238E27FC236}">
                <a16:creationId xmlns:a16="http://schemas.microsoft.com/office/drawing/2014/main" id="{71D6947E-0798-C964-1817-8B0074775B5E}"/>
              </a:ext>
            </a:extLst>
          </p:cNvPr>
          <p:cNvGrpSpPr/>
          <p:nvPr/>
        </p:nvGrpSpPr>
        <p:grpSpPr>
          <a:xfrm>
            <a:off x="6795770" y="4126556"/>
            <a:ext cx="5237480" cy="717911"/>
            <a:chOff x="6795770" y="4126556"/>
            <a:chExt cx="5237480" cy="717911"/>
          </a:xfrm>
        </p:grpSpPr>
        <p:grpSp>
          <p:nvGrpSpPr>
            <p:cNvPr id="23" name="Groupe 22">
              <a:extLst>
                <a:ext uri="{FF2B5EF4-FFF2-40B4-BE49-F238E27FC236}">
                  <a16:creationId xmlns:a16="http://schemas.microsoft.com/office/drawing/2014/main" id="{83A31C27-C11B-9A7A-C532-2CDD23408D9C}"/>
                </a:ext>
              </a:extLst>
            </p:cNvPr>
            <p:cNvGrpSpPr/>
            <p:nvPr/>
          </p:nvGrpSpPr>
          <p:grpSpPr>
            <a:xfrm>
              <a:off x="6795770" y="4237458"/>
              <a:ext cx="548640" cy="548640"/>
              <a:chOff x="6903720" y="3989808"/>
              <a:chExt cx="548640" cy="548640"/>
            </a:xfrm>
          </p:grpSpPr>
          <p:sp>
            <p:nvSpPr>
              <p:cNvPr id="15" name="Shape 10"/>
              <p:cNvSpPr/>
              <p:nvPr/>
            </p:nvSpPr>
            <p:spPr>
              <a:xfrm>
                <a:off x="6903720" y="3989808"/>
                <a:ext cx="548640" cy="548640"/>
              </a:xfrm>
              <a:prstGeom prst="ellipse">
                <a:avLst/>
              </a:prstGeom>
              <a:solidFill>
                <a:srgbClr val="6BA6AF"/>
              </a:solidFill>
              <a:ln/>
            </p:spPr>
            <p:txBody>
              <a:bodyPr/>
              <a:lstStyle/>
              <a:p>
                <a:endParaRPr lang="fr-FR" noProof="0" dirty="0"/>
              </a:p>
            </p:txBody>
          </p:sp>
          <p:pic>
            <p:nvPicPr>
              <p:cNvPr id="16" name="Image 3" descr="Hiérarchie avec un remplissage uni"/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rcRect/>
              <a:stretch/>
            </p:blipFill>
            <p:spPr>
              <a:xfrm>
                <a:off x="7035394" y="4121482"/>
                <a:ext cx="285293" cy="285293"/>
              </a:xfrm>
              <a:prstGeom prst="rect">
                <a:avLst/>
              </a:prstGeom>
            </p:spPr>
          </p:pic>
        </p:grpSp>
        <p:sp>
          <p:nvSpPr>
            <p:cNvPr id="17" name="Text 11"/>
            <p:cNvSpPr/>
            <p:nvPr/>
          </p:nvSpPr>
          <p:spPr>
            <a:xfrm>
              <a:off x="7552690" y="4126556"/>
              <a:ext cx="448056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fr-FR" sz="2000" b="1" noProof="0" dirty="0">
                  <a:solidFill>
                    <a:srgbClr val="328490"/>
                  </a:solidFill>
                  <a:latin typeface="Josefin Sans" pitchFamily="34" charset="0"/>
                  <a:ea typeface="Josefin Sans" pitchFamily="34" charset="-122"/>
                  <a:cs typeface="Josefin Sans" pitchFamily="34" charset="-120"/>
                </a:rPr>
                <a:t>t-SNE  50 → 2</a:t>
              </a:r>
              <a:endParaRPr lang="fr-FR" sz="2000" noProof="0" dirty="0"/>
            </a:p>
          </p:txBody>
        </p:sp>
        <p:sp>
          <p:nvSpPr>
            <p:cNvPr id="18" name="Text 12"/>
            <p:cNvSpPr/>
            <p:nvPr/>
          </p:nvSpPr>
          <p:spPr>
            <a:xfrm>
              <a:off x="7552690" y="4517716"/>
              <a:ext cx="4309110" cy="32675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00000"/>
                </a:lnSpc>
                <a:buNone/>
              </a:pPr>
              <a:r>
                <a:rPr lang="fr-FR" sz="1350" noProof="0" dirty="0">
                  <a:solidFill>
                    <a:srgbClr val="464646"/>
                  </a:solidFill>
                  <a:latin typeface="Josefin Sans" pitchFamily="34" charset="0"/>
                  <a:ea typeface="Josefin Sans" pitchFamily="34" charset="-122"/>
                  <a:cs typeface="Josefin Sans" pitchFamily="34" charset="-120"/>
                </a:rPr>
                <a:t>Projette en préservant les proximités locales entre images</a:t>
              </a:r>
              <a:endParaRPr lang="fr-FR" sz="1350" noProof="0" dirty="0"/>
            </a:p>
          </p:txBody>
        </p:sp>
      </p:grpSp>
      <p:grpSp>
        <p:nvGrpSpPr>
          <p:cNvPr id="28" name="Groupe 27">
            <a:extLst>
              <a:ext uri="{FF2B5EF4-FFF2-40B4-BE49-F238E27FC236}">
                <a16:creationId xmlns:a16="http://schemas.microsoft.com/office/drawing/2014/main" id="{21060E99-C05A-CCFA-4392-66ABAB6BE581}"/>
              </a:ext>
            </a:extLst>
          </p:cNvPr>
          <p:cNvGrpSpPr/>
          <p:nvPr/>
        </p:nvGrpSpPr>
        <p:grpSpPr>
          <a:xfrm>
            <a:off x="6794500" y="5029200"/>
            <a:ext cx="5067300" cy="1097280"/>
            <a:chOff x="6794500" y="5029200"/>
            <a:chExt cx="5067300" cy="1097280"/>
          </a:xfrm>
        </p:grpSpPr>
        <p:sp>
          <p:nvSpPr>
            <p:cNvPr id="19" name="Shape 13"/>
            <p:cNvSpPr/>
            <p:nvPr/>
          </p:nvSpPr>
          <p:spPr>
            <a:xfrm>
              <a:off x="6794500" y="5029200"/>
              <a:ext cx="5067300" cy="1097280"/>
            </a:xfrm>
            <a:prstGeom prst="roundRect">
              <a:avLst>
                <a:gd name="adj" fmla="val 7500"/>
              </a:avLst>
            </a:prstGeom>
            <a:solidFill>
              <a:srgbClr val="E4EEF1"/>
            </a:solidFill>
            <a:ln/>
            <a:effectLst>
              <a:outerShdw blurRad="101600" dist="38100" dir="54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20" name="Text 14"/>
            <p:cNvSpPr/>
            <p:nvPr/>
          </p:nvSpPr>
          <p:spPr>
            <a:xfrm>
              <a:off x="6979920" y="5212080"/>
              <a:ext cx="4729480" cy="7772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00000"/>
                </a:lnSpc>
                <a:buNone/>
              </a:pPr>
              <a:r>
                <a:rPr lang="fr-FR" sz="1350" b="1" noProof="0" dirty="0">
                  <a:solidFill>
                    <a:srgbClr val="328490"/>
                  </a:solidFill>
                  <a:latin typeface="Josefin Sans" pitchFamily="34" charset="0"/>
                  <a:ea typeface="Josefin Sans" pitchFamily="34" charset="-122"/>
                  <a:cs typeface="Josefin Sans" pitchFamily="34" charset="-120"/>
                </a:rPr>
                <a:t>Lecture : </a:t>
              </a:r>
              <a:r>
                <a:rPr lang="fr-FR" sz="1350" noProof="0" dirty="0">
                  <a:solidFill>
                    <a:srgbClr val="464646"/>
                  </a:solidFill>
                  <a:latin typeface="Josefin Sans" pitchFamily="34" charset="0"/>
                  <a:ea typeface="Josefin Sans" pitchFamily="34" charset="-122"/>
                  <a:cs typeface="Josefin Sans" pitchFamily="34" charset="-120"/>
                </a:rPr>
                <a:t>plusieurs poches se détachent nettement. Le signal porté par les </a:t>
              </a:r>
              <a:r>
                <a:rPr lang="fr-FR" sz="1350" noProof="0" dirty="0" err="1">
                  <a:solidFill>
                    <a:srgbClr val="464646"/>
                  </a:solidFill>
                  <a:latin typeface="Josefin Sans" pitchFamily="34" charset="0"/>
                  <a:ea typeface="Josefin Sans" pitchFamily="34" charset="-122"/>
                  <a:cs typeface="Josefin Sans" pitchFamily="34" charset="-120"/>
                </a:rPr>
                <a:t>embeddings</a:t>
              </a:r>
              <a:r>
                <a:rPr lang="fr-FR" sz="1350" noProof="0" dirty="0">
                  <a:solidFill>
                    <a:srgbClr val="464646"/>
                  </a:solidFill>
                  <a:latin typeface="Josefin Sans" pitchFamily="34" charset="0"/>
                  <a:ea typeface="Josefin Sans" pitchFamily="34" charset="-122"/>
                  <a:cs typeface="Josefin Sans" pitchFamily="34" charset="-120"/>
                </a:rPr>
                <a:t> est exploitable, ce qui autorise le clustering.</a:t>
              </a:r>
              <a:endParaRPr lang="fr-FR" sz="1350" noProof="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1945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b="1" kern="0" spc="300" noProof="0" dirty="0">
                <a:solidFill>
                  <a:srgbClr val="6BA6AF"/>
                </a:solidFill>
                <a:latin typeface="Josefin Sans" pitchFamily="34" charset="0"/>
                <a:ea typeface="Josefin Sans" pitchFamily="34" charset="-122"/>
                <a:cs typeface="Josefin Sans" pitchFamily="34" charset="-120"/>
              </a:rPr>
              <a:t>STRUCTURER</a:t>
            </a:r>
            <a:endParaRPr lang="fr-FR" sz="1200" noProof="0" dirty="0"/>
          </a:p>
        </p:txBody>
      </p:sp>
      <p:sp>
        <p:nvSpPr>
          <p:cNvPr id="3" name="Text 1"/>
          <p:cNvSpPr/>
          <p:nvPr/>
        </p:nvSpPr>
        <p:spPr>
          <a:xfrm>
            <a:off x="640080" y="679614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3000" b="1" noProof="0" dirty="0">
                <a:solidFill>
                  <a:srgbClr val="328490"/>
                </a:solidFill>
                <a:latin typeface="Josefin Sans" pitchFamily="34" charset="0"/>
                <a:ea typeface="Josefin Sans" pitchFamily="34" charset="-122"/>
                <a:cs typeface="Josefin Sans" pitchFamily="34" charset="-120"/>
              </a:rPr>
              <a:t>Deux méthodes comparées, K-Means retenu sur preuve chiffrée</a:t>
            </a:r>
            <a:endParaRPr lang="fr-FR" sz="3000" noProof="0" dirty="0"/>
          </a:p>
        </p:txBody>
      </p:sp>
      <p:grpSp>
        <p:nvGrpSpPr>
          <p:cNvPr id="19" name="Groupe 18">
            <a:extLst>
              <a:ext uri="{FF2B5EF4-FFF2-40B4-BE49-F238E27FC236}">
                <a16:creationId xmlns:a16="http://schemas.microsoft.com/office/drawing/2014/main" id="{B86DFF3F-15E7-FE59-2BA9-96A0858486D3}"/>
              </a:ext>
            </a:extLst>
          </p:cNvPr>
          <p:cNvGrpSpPr/>
          <p:nvPr/>
        </p:nvGrpSpPr>
        <p:grpSpPr>
          <a:xfrm>
            <a:off x="640080" y="2167294"/>
            <a:ext cx="6949440" cy="3274656"/>
            <a:chOff x="640080" y="2167294"/>
            <a:chExt cx="6949440" cy="3274656"/>
          </a:xfrm>
        </p:grpSpPr>
        <p:sp>
          <p:nvSpPr>
            <p:cNvPr id="4" name="Shape 2"/>
            <p:cNvSpPr/>
            <p:nvPr/>
          </p:nvSpPr>
          <p:spPr>
            <a:xfrm>
              <a:off x="640080" y="2167294"/>
              <a:ext cx="6949440" cy="3274656"/>
            </a:xfrm>
            <a:prstGeom prst="roundRect">
              <a:avLst>
                <a:gd name="adj" fmla="val 2604"/>
              </a:avLst>
            </a:prstGeom>
            <a:solidFill>
              <a:srgbClr val="FFFFFF"/>
            </a:solidFill>
            <a:ln/>
            <a:effectLst>
              <a:outerShdw blurRad="101600" dist="38100" dir="54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fr-FR" noProof="0" dirty="0"/>
            </a:p>
          </p:txBody>
        </p:sp>
        <p:pic>
          <p:nvPicPr>
            <p:cNvPr id="5" name="Image 0" descr="Deux nuages t-SNE côte à côte : à gauche K-Means en deux groupes, à droite DBSCAN en 18 clusters avec 327 points de bruit.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22960" y="2350174"/>
              <a:ext cx="6583680" cy="2794512"/>
            </a:xfrm>
            <a:prstGeom prst="rect">
              <a:avLst/>
            </a:prstGeom>
          </p:spPr>
        </p:pic>
        <p:sp>
          <p:nvSpPr>
            <p:cNvPr id="6" name="Text 3"/>
            <p:cNvSpPr/>
            <p:nvPr/>
          </p:nvSpPr>
          <p:spPr>
            <a:xfrm>
              <a:off x="822960" y="5180977"/>
              <a:ext cx="6583680" cy="20060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fr-FR" sz="1200" i="1" noProof="0" dirty="0">
                  <a:solidFill>
                    <a:srgbClr val="556269"/>
                  </a:solidFill>
                  <a:latin typeface="Josefin Sans" pitchFamily="34" charset="0"/>
                  <a:ea typeface="Josefin Sans" pitchFamily="34" charset="-122"/>
                  <a:cs typeface="Josefin Sans" pitchFamily="34" charset="-120"/>
                </a:rPr>
                <a:t>K-Means (k=2) vs DBSCAN sur la projection t-SNE</a:t>
              </a:r>
              <a:endParaRPr lang="fr-FR" sz="1200" noProof="0" dirty="0"/>
            </a:p>
          </p:txBody>
        </p:sp>
      </p:grpSp>
      <p:grpSp>
        <p:nvGrpSpPr>
          <p:cNvPr id="20" name="Groupe 19">
            <a:extLst>
              <a:ext uri="{FF2B5EF4-FFF2-40B4-BE49-F238E27FC236}">
                <a16:creationId xmlns:a16="http://schemas.microsoft.com/office/drawing/2014/main" id="{45E7520F-01E0-6140-ADAD-27A31BE2CF6F}"/>
              </a:ext>
            </a:extLst>
          </p:cNvPr>
          <p:cNvGrpSpPr/>
          <p:nvPr/>
        </p:nvGrpSpPr>
        <p:grpSpPr>
          <a:xfrm>
            <a:off x="7955280" y="1938020"/>
            <a:ext cx="3566160" cy="1833880"/>
            <a:chOff x="7955280" y="1531620"/>
            <a:chExt cx="3566160" cy="1833880"/>
          </a:xfrm>
        </p:grpSpPr>
        <p:sp>
          <p:nvSpPr>
            <p:cNvPr id="7" name="Shape 4"/>
            <p:cNvSpPr/>
            <p:nvPr/>
          </p:nvSpPr>
          <p:spPr>
            <a:xfrm>
              <a:off x="7955280" y="1531620"/>
              <a:ext cx="3566160" cy="1833880"/>
            </a:xfrm>
            <a:prstGeom prst="roundRect">
              <a:avLst>
                <a:gd name="adj" fmla="val 4186"/>
              </a:avLst>
            </a:prstGeom>
            <a:solidFill>
              <a:srgbClr val="FFFFFF"/>
            </a:solidFill>
            <a:ln/>
            <a:effectLst>
              <a:outerShdw blurRad="101600" dist="38100" dir="54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8" name="Text 5"/>
            <p:cNvSpPr/>
            <p:nvPr/>
          </p:nvSpPr>
          <p:spPr>
            <a:xfrm>
              <a:off x="8229600" y="1773218"/>
              <a:ext cx="3108960" cy="5115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95000"/>
                </a:lnSpc>
                <a:buNone/>
              </a:pPr>
              <a:r>
                <a:rPr lang="fr-FR" sz="2000" b="1" noProof="0" dirty="0">
                  <a:solidFill>
                    <a:srgbClr val="328490"/>
                  </a:solidFill>
                  <a:latin typeface="Josefin Sans" pitchFamily="34" charset="0"/>
                  <a:ea typeface="Josefin Sans" pitchFamily="34" charset="-122"/>
                  <a:cs typeface="Josefin Sans" pitchFamily="34" charset="-120"/>
                </a:rPr>
                <a:t>Score ARI</a:t>
              </a:r>
            </a:p>
            <a:p>
              <a:pPr marL="0" indent="0">
                <a:lnSpc>
                  <a:spcPct val="95000"/>
                </a:lnSpc>
                <a:buNone/>
              </a:pPr>
              <a:r>
                <a:rPr lang="fr-FR" sz="1400" b="1" noProof="0" dirty="0">
                  <a:solidFill>
                    <a:srgbClr val="328490"/>
                  </a:solidFill>
                  <a:latin typeface="Josefin Sans" pitchFamily="34" charset="0"/>
                  <a:ea typeface="Josefin Sans" pitchFamily="34" charset="-122"/>
                  <a:cs typeface="Josefin Sans" pitchFamily="34" charset="-120"/>
                </a:rPr>
                <a:t>(accord avec les vrais labels)</a:t>
              </a:r>
              <a:endParaRPr lang="fr-FR" sz="1400" noProof="0" dirty="0"/>
            </a:p>
          </p:txBody>
        </p:sp>
        <p:sp>
          <p:nvSpPr>
            <p:cNvPr id="9" name="Text 6"/>
            <p:cNvSpPr/>
            <p:nvPr/>
          </p:nvSpPr>
          <p:spPr>
            <a:xfrm>
              <a:off x="8229600" y="2343030"/>
              <a:ext cx="3108960" cy="8196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10000"/>
                </a:lnSpc>
                <a:buNone/>
              </a:pPr>
              <a:r>
                <a:rPr lang="fr-FR" sz="1600" noProof="0" dirty="0">
                  <a:solidFill>
                    <a:srgbClr val="464646"/>
                  </a:solidFill>
                  <a:latin typeface="Josefin Sans" pitchFamily="34" charset="0"/>
                  <a:ea typeface="Josefin Sans" pitchFamily="34" charset="-122"/>
                  <a:cs typeface="Josefin Sans" pitchFamily="34" charset="-120"/>
                </a:rPr>
                <a:t>K-Means   </a:t>
              </a:r>
              <a:r>
                <a:rPr lang="fr-FR" sz="2400" b="1" noProof="0" dirty="0">
                  <a:solidFill>
                    <a:srgbClr val="328490"/>
                  </a:solidFill>
                  <a:latin typeface="Josefin Sans" pitchFamily="34" charset="0"/>
                  <a:ea typeface="Josefin Sans" pitchFamily="34" charset="-122"/>
                  <a:cs typeface="Josefin Sans" pitchFamily="34" charset="-120"/>
                </a:rPr>
                <a:t>0,285</a:t>
              </a:r>
              <a:endParaRPr lang="fr-FR" sz="1600" noProof="0" dirty="0"/>
            </a:p>
            <a:p>
              <a:pPr marL="0" indent="0">
                <a:lnSpc>
                  <a:spcPct val="110000"/>
                </a:lnSpc>
                <a:buNone/>
              </a:pPr>
              <a:r>
                <a:rPr lang="fr-FR" sz="1600" noProof="0" dirty="0">
                  <a:solidFill>
                    <a:srgbClr val="464646"/>
                  </a:solidFill>
                  <a:latin typeface="Josefin Sans" pitchFamily="34" charset="0"/>
                  <a:ea typeface="Josefin Sans" pitchFamily="34" charset="-122"/>
                  <a:cs typeface="Josefin Sans" pitchFamily="34" charset="-120"/>
                </a:rPr>
                <a:t>DBSCAN   </a:t>
              </a:r>
              <a:r>
                <a:rPr lang="fr-FR" sz="2400" b="1" noProof="0" dirty="0">
                  <a:solidFill>
                    <a:srgbClr val="556269"/>
                  </a:solidFill>
                  <a:latin typeface="Josefin Sans" pitchFamily="34" charset="0"/>
                  <a:ea typeface="Josefin Sans" pitchFamily="34" charset="-122"/>
                  <a:cs typeface="Josefin Sans" pitchFamily="34" charset="-120"/>
                </a:rPr>
                <a:t>0,116</a:t>
              </a:r>
              <a:endParaRPr lang="fr-FR" sz="1600" noProof="0" dirty="0"/>
            </a:p>
          </p:txBody>
        </p:sp>
      </p:grpSp>
      <p:grpSp>
        <p:nvGrpSpPr>
          <p:cNvPr id="21" name="Groupe 20">
            <a:extLst>
              <a:ext uri="{FF2B5EF4-FFF2-40B4-BE49-F238E27FC236}">
                <a16:creationId xmlns:a16="http://schemas.microsoft.com/office/drawing/2014/main" id="{CCDEA3B2-217C-C7DE-DFD6-BF4525304622}"/>
              </a:ext>
            </a:extLst>
          </p:cNvPr>
          <p:cNvGrpSpPr/>
          <p:nvPr/>
        </p:nvGrpSpPr>
        <p:grpSpPr>
          <a:xfrm>
            <a:off x="7955280" y="4034790"/>
            <a:ext cx="3566160" cy="1978660"/>
            <a:chOff x="7955280" y="3749040"/>
            <a:chExt cx="3566160" cy="1978660"/>
          </a:xfrm>
        </p:grpSpPr>
        <p:sp>
          <p:nvSpPr>
            <p:cNvPr id="10" name="Shape 7"/>
            <p:cNvSpPr/>
            <p:nvPr/>
          </p:nvSpPr>
          <p:spPr>
            <a:xfrm>
              <a:off x="7955280" y="3749040"/>
              <a:ext cx="3566160" cy="1978660"/>
            </a:xfrm>
            <a:prstGeom prst="roundRect">
              <a:avLst>
                <a:gd name="adj" fmla="val 3462"/>
              </a:avLst>
            </a:prstGeom>
            <a:solidFill>
              <a:srgbClr val="E4EEF1"/>
            </a:solidFill>
            <a:ln/>
            <a:effectLst>
              <a:outerShdw blurRad="101600" dist="38100" dir="54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11" name="Shape 8"/>
            <p:cNvSpPr/>
            <p:nvPr/>
          </p:nvSpPr>
          <p:spPr>
            <a:xfrm>
              <a:off x="8229600" y="3952240"/>
              <a:ext cx="502920" cy="502920"/>
            </a:xfrm>
            <a:prstGeom prst="ellipse">
              <a:avLst/>
            </a:prstGeom>
            <a:solidFill>
              <a:srgbClr val="328490"/>
            </a:solidFill>
            <a:ln/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13" name="Text 9"/>
            <p:cNvSpPr/>
            <p:nvPr/>
          </p:nvSpPr>
          <p:spPr>
            <a:xfrm>
              <a:off x="8869680" y="3997960"/>
              <a:ext cx="265176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fr-FR" sz="2000" b="1" noProof="0" dirty="0">
                  <a:solidFill>
                    <a:srgbClr val="328490"/>
                  </a:solidFill>
                  <a:latin typeface="Josefin Sans" pitchFamily="34" charset="0"/>
                  <a:ea typeface="Josefin Sans" pitchFamily="34" charset="-122"/>
                  <a:cs typeface="Josefin Sans" pitchFamily="34" charset="-120"/>
                </a:rPr>
                <a:t>Décision : K-Means</a:t>
              </a:r>
              <a:endParaRPr lang="fr-FR" sz="2000" noProof="0" dirty="0"/>
            </a:p>
          </p:txBody>
        </p:sp>
        <p:sp>
          <p:nvSpPr>
            <p:cNvPr id="14" name="Text 10"/>
            <p:cNvSpPr/>
            <p:nvPr/>
          </p:nvSpPr>
          <p:spPr>
            <a:xfrm>
              <a:off x="8178800" y="4627884"/>
              <a:ext cx="3200400" cy="96646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ct val="102000"/>
                </a:lnSpc>
                <a:buNone/>
              </a:pPr>
              <a:r>
                <a:rPr lang="fr-FR" sz="1300" noProof="0" dirty="0">
                  <a:solidFill>
                    <a:srgbClr val="464646"/>
                  </a:solidFill>
                  <a:latin typeface="Josefin Sans" pitchFamily="34" charset="0"/>
                  <a:ea typeface="Josefin Sans" pitchFamily="34" charset="-122"/>
                  <a:cs typeface="Josefin Sans" pitchFamily="34" charset="-120"/>
                </a:rPr>
                <a:t>k=2 colle à la question clinique cancer / normal. DBSCAN découpe en fines poches de densité qui captent une autre structure que le label médical : ARI plus bas, écarté.</a:t>
              </a:r>
              <a:endParaRPr lang="fr-FR" sz="1300" noProof="0" dirty="0"/>
            </a:p>
          </p:txBody>
        </p:sp>
        <p:pic>
          <p:nvPicPr>
            <p:cNvPr id="16" name="Image 2" descr="Badge Tick1 avec un remplissage uni">
              <a:extLst>
                <a:ext uri="{FF2B5EF4-FFF2-40B4-BE49-F238E27FC236}">
                  <a16:creationId xmlns:a16="http://schemas.microsoft.com/office/drawing/2014/main" id="{B2377F3B-121A-AE74-4F0A-4515E629883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8322333" y="4044973"/>
              <a:ext cx="317454" cy="317454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1945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b="1" kern="0" spc="300" noProof="0" dirty="0">
                <a:solidFill>
                  <a:srgbClr val="6BA6AF"/>
                </a:solidFill>
                <a:latin typeface="Josefin Sans" pitchFamily="34" charset="0"/>
                <a:ea typeface="Josefin Sans" pitchFamily="34" charset="-122"/>
                <a:cs typeface="Josefin Sans" pitchFamily="34" charset="-120"/>
              </a:rPr>
              <a:t>STRUCTURER · LABELLISER</a:t>
            </a:r>
            <a:endParaRPr lang="fr-FR" sz="1200" noProof="0" dirty="0"/>
          </a:p>
        </p:txBody>
      </p:sp>
      <p:sp>
        <p:nvSpPr>
          <p:cNvPr id="3" name="Text 1"/>
          <p:cNvSpPr/>
          <p:nvPr/>
        </p:nvSpPr>
        <p:spPr>
          <a:xfrm>
            <a:off x="640080" y="422682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3000" b="1" noProof="0" dirty="0">
                <a:solidFill>
                  <a:srgbClr val="328490"/>
                </a:solidFill>
                <a:latin typeface="Josefin Sans" pitchFamily="34" charset="0"/>
                <a:ea typeface="Josefin Sans" pitchFamily="34" charset="-122"/>
                <a:cs typeface="Josefin Sans" pitchFamily="34" charset="-120"/>
              </a:rPr>
              <a:t>1 406 labels « faibles », strictement séparés du jeu fort</a:t>
            </a:r>
            <a:endParaRPr lang="fr-FR" sz="3000" noProof="0" dirty="0"/>
          </a:p>
        </p:txBody>
      </p:sp>
      <p:grpSp>
        <p:nvGrpSpPr>
          <p:cNvPr id="30" name="Groupe 29">
            <a:extLst>
              <a:ext uri="{FF2B5EF4-FFF2-40B4-BE49-F238E27FC236}">
                <a16:creationId xmlns:a16="http://schemas.microsoft.com/office/drawing/2014/main" id="{23544573-1537-EC46-6F6A-CBF3713F94A5}"/>
              </a:ext>
            </a:extLst>
          </p:cNvPr>
          <p:cNvGrpSpPr/>
          <p:nvPr/>
        </p:nvGrpSpPr>
        <p:grpSpPr>
          <a:xfrm>
            <a:off x="635886" y="1738896"/>
            <a:ext cx="3246120" cy="1938528"/>
            <a:chOff x="635886" y="1854802"/>
            <a:chExt cx="3246120" cy="1938528"/>
          </a:xfrm>
        </p:grpSpPr>
        <p:sp>
          <p:nvSpPr>
            <p:cNvPr id="4" name="Shape 2"/>
            <p:cNvSpPr/>
            <p:nvPr/>
          </p:nvSpPr>
          <p:spPr>
            <a:xfrm>
              <a:off x="635886" y="1854802"/>
              <a:ext cx="3246120" cy="1938528"/>
            </a:xfrm>
            <a:prstGeom prst="roundRect">
              <a:avLst>
                <a:gd name="adj" fmla="val 3750"/>
              </a:avLst>
            </a:prstGeom>
            <a:solidFill>
              <a:srgbClr val="FFFFFF"/>
            </a:solidFill>
            <a:ln/>
            <a:effectLst>
              <a:outerShdw blurRad="101600" dist="38100" dir="54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5" name="Shape 3"/>
            <p:cNvSpPr/>
            <p:nvPr/>
          </p:nvSpPr>
          <p:spPr>
            <a:xfrm>
              <a:off x="910206" y="2129122"/>
              <a:ext cx="548640" cy="548640"/>
            </a:xfrm>
            <a:prstGeom prst="ellipse">
              <a:avLst/>
            </a:prstGeom>
            <a:solidFill>
              <a:srgbClr val="328490"/>
            </a:solidFill>
            <a:ln/>
          </p:spPr>
          <p:txBody>
            <a:bodyPr/>
            <a:lstStyle/>
            <a:p>
              <a:endParaRPr lang="fr-FR" noProof="0" dirty="0"/>
            </a:p>
          </p:txBody>
        </p:sp>
        <p:pic>
          <p:nvPicPr>
            <p:cNvPr id="6" name="Image 0" descr="Formes simples avec un remplissage uni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991648" y="2234549"/>
              <a:ext cx="360000" cy="360000"/>
            </a:xfrm>
            <a:prstGeom prst="rect">
              <a:avLst/>
            </a:prstGeom>
          </p:spPr>
        </p:pic>
        <p:sp>
          <p:nvSpPr>
            <p:cNvPr id="7" name="Text 4"/>
            <p:cNvSpPr/>
            <p:nvPr/>
          </p:nvSpPr>
          <p:spPr>
            <a:xfrm>
              <a:off x="1590520" y="2260796"/>
              <a:ext cx="1979802" cy="2772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fr-FR" b="1" noProof="0" dirty="0">
                  <a:solidFill>
                    <a:srgbClr val="328490"/>
                  </a:solidFill>
                  <a:latin typeface="Josefin Sans" pitchFamily="34" charset="0"/>
                  <a:ea typeface="Josefin Sans" pitchFamily="34" charset="-122"/>
                  <a:cs typeface="Josefin Sans" pitchFamily="34" charset="-120"/>
                </a:rPr>
                <a:t>Clusters K-Means</a:t>
              </a:r>
              <a:endParaRPr lang="fr-FR" noProof="0" dirty="0"/>
            </a:p>
          </p:txBody>
        </p:sp>
        <p:sp>
          <p:nvSpPr>
            <p:cNvPr id="8" name="Text 5"/>
            <p:cNvSpPr/>
            <p:nvPr/>
          </p:nvSpPr>
          <p:spPr>
            <a:xfrm>
              <a:off x="910206" y="2903812"/>
              <a:ext cx="2788920" cy="45720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ct val="100000"/>
                </a:lnSpc>
                <a:buNone/>
              </a:pPr>
              <a:r>
                <a:rPr lang="fr-FR" sz="1300" noProof="0" dirty="0">
                  <a:solidFill>
                    <a:srgbClr val="464646"/>
                  </a:solidFill>
                  <a:latin typeface="Josefin Sans" pitchFamily="34" charset="0"/>
                  <a:ea typeface="Josefin Sans" pitchFamily="34" charset="-122"/>
                  <a:cs typeface="Josefin Sans" pitchFamily="34" charset="-120"/>
                </a:rPr>
                <a:t>Les 1 406 images non annotées sont regroupées automatiquement</a:t>
              </a:r>
              <a:endParaRPr lang="fr-FR" sz="1300" noProof="0" dirty="0"/>
            </a:p>
          </p:txBody>
        </p:sp>
      </p:grpSp>
      <p:grpSp>
        <p:nvGrpSpPr>
          <p:cNvPr id="31" name="Groupe 30">
            <a:extLst>
              <a:ext uri="{FF2B5EF4-FFF2-40B4-BE49-F238E27FC236}">
                <a16:creationId xmlns:a16="http://schemas.microsoft.com/office/drawing/2014/main" id="{4320D7E3-1D9F-352F-7456-57A12831D887}"/>
              </a:ext>
            </a:extLst>
          </p:cNvPr>
          <p:cNvGrpSpPr/>
          <p:nvPr/>
        </p:nvGrpSpPr>
        <p:grpSpPr>
          <a:xfrm>
            <a:off x="4476366" y="1738896"/>
            <a:ext cx="3246120" cy="1938528"/>
            <a:chOff x="4476366" y="1854802"/>
            <a:chExt cx="3246120" cy="1938528"/>
          </a:xfrm>
        </p:grpSpPr>
        <p:sp>
          <p:nvSpPr>
            <p:cNvPr id="10" name="Shape 7"/>
            <p:cNvSpPr/>
            <p:nvPr/>
          </p:nvSpPr>
          <p:spPr>
            <a:xfrm>
              <a:off x="4476366" y="1854802"/>
              <a:ext cx="3246120" cy="1938528"/>
            </a:xfrm>
            <a:prstGeom prst="roundRect">
              <a:avLst>
                <a:gd name="adj" fmla="val 3750"/>
              </a:avLst>
            </a:prstGeom>
            <a:solidFill>
              <a:srgbClr val="FFFFFF"/>
            </a:solidFill>
            <a:ln/>
            <a:effectLst>
              <a:outerShdw blurRad="101600" dist="38100" dir="54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11" name="Shape 8"/>
            <p:cNvSpPr/>
            <p:nvPr/>
          </p:nvSpPr>
          <p:spPr>
            <a:xfrm>
              <a:off x="4750686" y="2129122"/>
              <a:ext cx="548640" cy="548640"/>
            </a:xfrm>
            <a:prstGeom prst="ellipse">
              <a:avLst/>
            </a:prstGeom>
            <a:solidFill>
              <a:srgbClr val="328490"/>
            </a:solidFill>
            <a:ln/>
          </p:spPr>
          <p:txBody>
            <a:bodyPr/>
            <a:lstStyle/>
            <a:p>
              <a:endParaRPr lang="fr-FR" noProof="0" dirty="0"/>
            </a:p>
          </p:txBody>
        </p:sp>
        <p:pic>
          <p:nvPicPr>
            <p:cNvPr id="12" name="Image 1" descr="Balance de la justice avec un remplissage uni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4882360" y="2260796"/>
              <a:ext cx="285293" cy="285293"/>
            </a:xfrm>
            <a:prstGeom prst="rect">
              <a:avLst/>
            </a:prstGeom>
          </p:spPr>
        </p:pic>
        <p:sp>
          <p:nvSpPr>
            <p:cNvPr id="13" name="Text 9"/>
            <p:cNvSpPr/>
            <p:nvPr/>
          </p:nvSpPr>
          <p:spPr>
            <a:xfrm>
              <a:off x="5431000" y="2179456"/>
              <a:ext cx="186515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fr-FR" b="1" noProof="0" dirty="0">
                  <a:solidFill>
                    <a:srgbClr val="328490"/>
                  </a:solidFill>
                  <a:latin typeface="Josefin Sans" pitchFamily="34" charset="0"/>
                  <a:ea typeface="Josefin Sans" pitchFamily="34" charset="-122"/>
                  <a:cs typeface="Josefin Sans" pitchFamily="34" charset="-120"/>
                </a:rPr>
                <a:t>Vote majoritaire</a:t>
              </a:r>
              <a:endParaRPr lang="fr-FR" noProof="0" dirty="0"/>
            </a:p>
          </p:txBody>
        </p:sp>
        <p:sp>
          <p:nvSpPr>
            <p:cNvPr id="14" name="Text 10"/>
            <p:cNvSpPr/>
            <p:nvPr/>
          </p:nvSpPr>
          <p:spPr>
            <a:xfrm>
              <a:off x="4750686" y="2903812"/>
              <a:ext cx="2788920" cy="45720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ct val="100000"/>
                </a:lnSpc>
                <a:buNone/>
              </a:pPr>
              <a:r>
                <a:rPr lang="fr-FR" sz="1300" noProof="0" dirty="0">
                  <a:solidFill>
                    <a:srgbClr val="464646"/>
                  </a:solidFill>
                  <a:latin typeface="Josefin Sans" pitchFamily="34" charset="0"/>
                  <a:ea typeface="Josefin Sans" pitchFamily="34" charset="-122"/>
                  <a:cs typeface="Josefin Sans" pitchFamily="34" charset="-120"/>
                </a:rPr>
                <a:t>Chaque cluster reçoit son label métier via les labels forts</a:t>
              </a:r>
              <a:endParaRPr lang="fr-FR" sz="1300" noProof="0" dirty="0"/>
            </a:p>
          </p:txBody>
        </p:sp>
      </p:grpSp>
      <p:grpSp>
        <p:nvGrpSpPr>
          <p:cNvPr id="32" name="Groupe 31">
            <a:extLst>
              <a:ext uri="{FF2B5EF4-FFF2-40B4-BE49-F238E27FC236}">
                <a16:creationId xmlns:a16="http://schemas.microsoft.com/office/drawing/2014/main" id="{B7C1AF36-A480-595B-BB10-147F1FD2C793}"/>
              </a:ext>
            </a:extLst>
          </p:cNvPr>
          <p:cNvGrpSpPr/>
          <p:nvPr/>
        </p:nvGrpSpPr>
        <p:grpSpPr>
          <a:xfrm>
            <a:off x="8316846" y="1738896"/>
            <a:ext cx="3246120" cy="1938528"/>
            <a:chOff x="8316846" y="1854802"/>
            <a:chExt cx="3246120" cy="1938528"/>
          </a:xfrm>
        </p:grpSpPr>
        <p:sp>
          <p:nvSpPr>
            <p:cNvPr id="16" name="Shape 12"/>
            <p:cNvSpPr/>
            <p:nvPr/>
          </p:nvSpPr>
          <p:spPr>
            <a:xfrm>
              <a:off x="8316846" y="1854802"/>
              <a:ext cx="3246120" cy="1938528"/>
            </a:xfrm>
            <a:prstGeom prst="roundRect">
              <a:avLst>
                <a:gd name="adj" fmla="val 3750"/>
              </a:avLst>
            </a:prstGeom>
            <a:solidFill>
              <a:srgbClr val="FFFFFF"/>
            </a:solidFill>
            <a:ln/>
            <a:effectLst>
              <a:outerShdw blurRad="101600" dist="38100" dir="54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17" name="Shape 13"/>
            <p:cNvSpPr/>
            <p:nvPr/>
          </p:nvSpPr>
          <p:spPr>
            <a:xfrm>
              <a:off x="8591166" y="2129122"/>
              <a:ext cx="548640" cy="548640"/>
            </a:xfrm>
            <a:prstGeom prst="ellipse">
              <a:avLst/>
            </a:prstGeom>
            <a:solidFill>
              <a:srgbClr val="328490"/>
            </a:solidFill>
            <a:ln/>
          </p:spPr>
          <p:txBody>
            <a:bodyPr/>
            <a:lstStyle/>
            <a:p>
              <a:endParaRPr lang="fr-FR" noProof="0" dirty="0"/>
            </a:p>
          </p:txBody>
        </p:sp>
        <p:pic>
          <p:nvPicPr>
            <p:cNvPr id="18" name="Image 2" descr="Marquage avec un remplissage uni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8685486" y="2219424"/>
              <a:ext cx="360000" cy="360000"/>
            </a:xfrm>
            <a:prstGeom prst="rect">
              <a:avLst/>
            </a:prstGeom>
          </p:spPr>
        </p:pic>
        <p:sp>
          <p:nvSpPr>
            <p:cNvPr id="19" name="Text 14"/>
            <p:cNvSpPr/>
            <p:nvPr/>
          </p:nvSpPr>
          <p:spPr>
            <a:xfrm>
              <a:off x="9271480" y="2175261"/>
              <a:ext cx="2010314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fr-FR" b="1" noProof="0" dirty="0">
                  <a:solidFill>
                    <a:srgbClr val="328490"/>
                  </a:solidFill>
                  <a:latin typeface="Josefin Sans" pitchFamily="34" charset="0"/>
                  <a:ea typeface="Josefin Sans" pitchFamily="34" charset="-122"/>
                  <a:cs typeface="Josefin Sans" pitchFamily="34" charset="-120"/>
                </a:rPr>
                <a:t>Labels faibles</a:t>
              </a:r>
              <a:endParaRPr lang="fr-FR" noProof="0" dirty="0"/>
            </a:p>
          </p:txBody>
        </p:sp>
        <p:sp>
          <p:nvSpPr>
            <p:cNvPr id="20" name="Text 15"/>
            <p:cNvSpPr/>
            <p:nvPr/>
          </p:nvSpPr>
          <p:spPr>
            <a:xfrm>
              <a:off x="8591166" y="2903812"/>
              <a:ext cx="2788920" cy="45720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ct val="100000"/>
                </a:lnSpc>
                <a:buNone/>
              </a:pPr>
              <a:r>
                <a:rPr lang="fr-FR" sz="1300" noProof="0" dirty="0">
                  <a:solidFill>
                    <a:srgbClr val="464646"/>
                  </a:solidFill>
                  <a:latin typeface="Josefin Sans" pitchFamily="34" charset="0"/>
                  <a:ea typeface="Josefin Sans" pitchFamily="34" charset="-122"/>
                  <a:cs typeface="Josefin Sans" pitchFamily="34" charset="-120"/>
                </a:rPr>
                <a:t>645 cancer / 761 normal, répartition équilibrée</a:t>
              </a:r>
              <a:endParaRPr lang="fr-FR" sz="1300" noProof="0" dirty="0"/>
            </a:p>
          </p:txBody>
        </p:sp>
      </p:grpSp>
      <p:grpSp>
        <p:nvGrpSpPr>
          <p:cNvPr id="33" name="Groupe 32">
            <a:extLst>
              <a:ext uri="{FF2B5EF4-FFF2-40B4-BE49-F238E27FC236}">
                <a16:creationId xmlns:a16="http://schemas.microsoft.com/office/drawing/2014/main" id="{E3196875-840A-047B-73D4-1D25C512D05D}"/>
              </a:ext>
            </a:extLst>
          </p:cNvPr>
          <p:cNvGrpSpPr/>
          <p:nvPr/>
        </p:nvGrpSpPr>
        <p:grpSpPr>
          <a:xfrm>
            <a:off x="640080" y="4297680"/>
            <a:ext cx="10881360" cy="1828800"/>
            <a:chOff x="640080" y="4297680"/>
            <a:chExt cx="10881360" cy="1828800"/>
          </a:xfrm>
        </p:grpSpPr>
        <p:sp>
          <p:nvSpPr>
            <p:cNvPr id="21" name="Shape 16"/>
            <p:cNvSpPr/>
            <p:nvPr/>
          </p:nvSpPr>
          <p:spPr>
            <a:xfrm>
              <a:off x="640080" y="4297680"/>
              <a:ext cx="10881360" cy="1828800"/>
            </a:xfrm>
            <a:prstGeom prst="roundRect">
              <a:avLst>
                <a:gd name="adj" fmla="val 4500"/>
              </a:avLst>
            </a:prstGeom>
            <a:solidFill>
              <a:srgbClr val="E4EEF1"/>
            </a:solidFill>
            <a:ln/>
            <a:effectLst>
              <a:outerShdw blurRad="101600" dist="38100" dir="54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22" name="Shape 17"/>
            <p:cNvSpPr/>
            <p:nvPr/>
          </p:nvSpPr>
          <p:spPr>
            <a:xfrm>
              <a:off x="960120" y="4572000"/>
              <a:ext cx="548640" cy="548640"/>
            </a:xfrm>
            <a:prstGeom prst="ellipse">
              <a:avLst/>
            </a:prstGeom>
            <a:solidFill>
              <a:srgbClr val="328490"/>
            </a:solidFill>
            <a:ln/>
          </p:spPr>
          <p:txBody>
            <a:bodyPr/>
            <a:lstStyle/>
            <a:p>
              <a:endParaRPr lang="fr-FR" noProof="0" dirty="0"/>
            </a:p>
          </p:txBody>
        </p:sp>
        <p:pic>
          <p:nvPicPr>
            <p:cNvPr id="23" name="Image 3" descr="Avertissement avec un remplissage uni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p:blipFill>
          <p:spPr>
            <a:xfrm>
              <a:off x="1091794" y="4684114"/>
              <a:ext cx="285293" cy="285293"/>
            </a:xfrm>
            <a:prstGeom prst="rect">
              <a:avLst/>
            </a:prstGeom>
          </p:spPr>
        </p:pic>
        <p:sp>
          <p:nvSpPr>
            <p:cNvPr id="24" name="Text 18"/>
            <p:cNvSpPr/>
            <p:nvPr/>
          </p:nvSpPr>
          <p:spPr>
            <a:xfrm>
              <a:off x="1691640" y="4572000"/>
              <a:ext cx="960120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fr-FR" sz="1700" b="1" noProof="0" dirty="0">
                  <a:solidFill>
                    <a:srgbClr val="328490"/>
                  </a:solidFill>
                  <a:latin typeface="Josefin Sans" pitchFamily="34" charset="0"/>
                  <a:ea typeface="Josefin Sans" pitchFamily="34" charset="-122"/>
                  <a:cs typeface="Josefin Sans" pitchFamily="34" charset="-120"/>
                </a:rPr>
                <a:t>La séparation faible / fort n'est pas négociable</a:t>
              </a:r>
              <a:endParaRPr lang="fr-FR" sz="1700" noProof="0" dirty="0"/>
            </a:p>
          </p:txBody>
        </p:sp>
        <p:sp>
          <p:nvSpPr>
            <p:cNvPr id="25" name="Text 19"/>
            <p:cNvSpPr/>
            <p:nvPr/>
          </p:nvSpPr>
          <p:spPr>
            <a:xfrm>
              <a:off x="1691640" y="5029200"/>
              <a:ext cx="9601200" cy="9601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05000"/>
                </a:lnSpc>
                <a:buNone/>
              </a:pPr>
              <a:r>
                <a:rPr lang="fr-FR" sz="1450" noProof="0" dirty="0">
                  <a:solidFill>
                    <a:srgbClr val="464646"/>
                  </a:solidFill>
                  <a:latin typeface="Josefin Sans" pitchFamily="34" charset="0"/>
                  <a:ea typeface="Josefin Sans" pitchFamily="34" charset="-122"/>
                  <a:cs typeface="Josefin Sans" pitchFamily="34" charset="-120"/>
                </a:rPr>
                <a:t>Ces 1 406 labels sont approximatifs, produits par la machine. Ils servent à donner du volume au modèle, jamais à évaluer sa performance. Ils restent isolés des 100 labels radiologues, qui sont les seuls utilisés pour mesurer la qualité réelle.</a:t>
              </a:r>
              <a:endParaRPr lang="fr-FR" sz="1450" noProof="0" dirty="0"/>
            </a:p>
          </p:txBody>
        </p:sp>
      </p:grpSp>
      <p:cxnSp>
        <p:nvCxnSpPr>
          <p:cNvPr id="27" name="Connecteur droit avec flèche 26">
            <a:extLst>
              <a:ext uri="{FF2B5EF4-FFF2-40B4-BE49-F238E27FC236}">
                <a16:creationId xmlns:a16="http://schemas.microsoft.com/office/drawing/2014/main" id="{9E78D371-0790-D029-EC18-90226A652F09}"/>
              </a:ext>
            </a:extLst>
          </p:cNvPr>
          <p:cNvCxnSpPr>
            <a:stCxn id="4" idx="3"/>
            <a:endCxn id="10" idx="1"/>
          </p:cNvCxnSpPr>
          <p:nvPr/>
        </p:nvCxnSpPr>
        <p:spPr>
          <a:xfrm>
            <a:off x="3882006" y="2708160"/>
            <a:ext cx="594360" cy="0"/>
          </a:xfrm>
          <a:prstGeom prst="straightConnector1">
            <a:avLst/>
          </a:prstGeom>
          <a:ln w="28575">
            <a:solidFill>
              <a:srgbClr val="6BA6A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eur droit avec flèche 28">
            <a:extLst>
              <a:ext uri="{FF2B5EF4-FFF2-40B4-BE49-F238E27FC236}">
                <a16:creationId xmlns:a16="http://schemas.microsoft.com/office/drawing/2014/main" id="{EEC3D576-3DA0-83C0-0107-00CF424C2C9B}"/>
              </a:ext>
            </a:extLst>
          </p:cNvPr>
          <p:cNvCxnSpPr>
            <a:stCxn id="10" idx="3"/>
            <a:endCxn id="16" idx="1"/>
          </p:cNvCxnSpPr>
          <p:nvPr/>
        </p:nvCxnSpPr>
        <p:spPr>
          <a:xfrm>
            <a:off x="7722486" y="2708160"/>
            <a:ext cx="594360" cy="0"/>
          </a:xfrm>
          <a:prstGeom prst="straightConnector1">
            <a:avLst/>
          </a:prstGeom>
          <a:ln w="28575">
            <a:solidFill>
              <a:srgbClr val="6BA6A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1945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b="1" kern="0" spc="300" noProof="0" dirty="0">
                <a:solidFill>
                  <a:srgbClr val="6BA6AF"/>
                </a:solidFill>
                <a:latin typeface="Josefin Sans" pitchFamily="34" charset="0"/>
                <a:ea typeface="Josefin Sans" pitchFamily="34" charset="-122"/>
                <a:cs typeface="Josefin Sans" pitchFamily="34" charset="-120"/>
              </a:rPr>
              <a:t>APPRENDRE</a:t>
            </a:r>
            <a:endParaRPr lang="fr-FR" sz="1200" noProof="0" dirty="0"/>
          </a:p>
        </p:txBody>
      </p:sp>
      <p:sp>
        <p:nvSpPr>
          <p:cNvPr id="3" name="Text 1"/>
          <p:cNvSpPr/>
          <p:nvPr/>
        </p:nvSpPr>
        <p:spPr>
          <a:xfrm>
            <a:off x="640080" y="409804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3000" b="1" noProof="0" dirty="0">
                <a:solidFill>
                  <a:srgbClr val="328490"/>
                </a:solidFill>
                <a:latin typeface="Josefin Sans" pitchFamily="34" charset="0"/>
                <a:ea typeface="Josefin Sans" pitchFamily="34" charset="-122"/>
                <a:cs typeface="Josefin Sans" pitchFamily="34" charset="-120"/>
              </a:rPr>
              <a:t>Deux modèles comparés sur le même test jamais vu</a:t>
            </a:r>
            <a:endParaRPr lang="fr-FR" sz="3000" noProof="0" dirty="0"/>
          </a:p>
        </p:txBody>
      </p:sp>
      <p:grpSp>
        <p:nvGrpSpPr>
          <p:cNvPr id="13" name="Groupe 12">
            <a:extLst>
              <a:ext uri="{FF2B5EF4-FFF2-40B4-BE49-F238E27FC236}">
                <a16:creationId xmlns:a16="http://schemas.microsoft.com/office/drawing/2014/main" id="{08DBD208-116F-6717-FF85-EBDE1BD628A9}"/>
              </a:ext>
            </a:extLst>
          </p:cNvPr>
          <p:cNvGrpSpPr/>
          <p:nvPr/>
        </p:nvGrpSpPr>
        <p:grpSpPr>
          <a:xfrm>
            <a:off x="640080" y="1592580"/>
            <a:ext cx="5257800" cy="3703320"/>
            <a:chOff x="640080" y="1592580"/>
            <a:chExt cx="5257800" cy="3703320"/>
          </a:xfrm>
        </p:grpSpPr>
        <p:sp>
          <p:nvSpPr>
            <p:cNvPr id="4" name="Shape 2"/>
            <p:cNvSpPr/>
            <p:nvPr/>
          </p:nvSpPr>
          <p:spPr>
            <a:xfrm>
              <a:off x="640080" y="1592580"/>
              <a:ext cx="5257800" cy="3703320"/>
            </a:xfrm>
            <a:prstGeom prst="roundRect">
              <a:avLst>
                <a:gd name="adj" fmla="val 2222"/>
              </a:avLst>
            </a:prstGeom>
            <a:solidFill>
              <a:srgbClr val="FFFFFF"/>
            </a:solidFill>
            <a:ln/>
            <a:effectLst>
              <a:outerShdw blurRad="101600" dist="38100" dir="54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5" name="Text 3"/>
            <p:cNvSpPr/>
            <p:nvPr/>
          </p:nvSpPr>
          <p:spPr>
            <a:xfrm>
              <a:off x="1052340" y="2110601"/>
              <a:ext cx="461694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fr-FR" sz="2400" b="1" noProof="0" dirty="0">
                  <a:solidFill>
                    <a:srgbClr val="556269"/>
                  </a:solidFill>
                  <a:latin typeface="Josefin Sans" pitchFamily="34" charset="0"/>
                  <a:ea typeface="Josefin Sans" pitchFamily="34" charset="-122"/>
                  <a:cs typeface="Josefin Sans" pitchFamily="34" charset="-120"/>
                </a:rPr>
                <a:t>Baseline (référence)</a:t>
              </a:r>
              <a:endParaRPr lang="fr-FR" sz="2400" noProof="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1052340" y="2369820"/>
              <a:ext cx="4616940" cy="2743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05000"/>
                </a:lnSpc>
                <a:spcAft>
                  <a:spcPts val="600"/>
                </a:spcAft>
                <a:buNone/>
              </a:pPr>
              <a:r>
                <a:rPr lang="fr-FR" sz="1500" b="1" noProof="0" dirty="0">
                  <a:solidFill>
                    <a:srgbClr val="464646"/>
                  </a:solidFill>
                  <a:latin typeface="Josefin Sans" pitchFamily="34" charset="0"/>
                  <a:ea typeface="Josefin Sans" pitchFamily="34" charset="-122"/>
                  <a:cs typeface="Josefin Sans" pitchFamily="34" charset="-120"/>
                </a:rPr>
                <a:t>Supervisé seul</a:t>
              </a:r>
              <a:endParaRPr lang="fr-FR" sz="1500" noProof="0" dirty="0"/>
            </a:p>
            <a:p>
              <a:pPr marL="342900" indent="-342900">
                <a:lnSpc>
                  <a:spcPct val="105000"/>
                </a:lnSpc>
                <a:spcAft>
                  <a:spcPts val="600"/>
                </a:spcAft>
                <a:buSzPct val="100000"/>
                <a:buChar char="•"/>
              </a:pPr>
              <a:r>
                <a:rPr lang="fr-FR" sz="1500" noProof="0" dirty="0">
                  <a:solidFill>
                    <a:srgbClr val="464646"/>
                  </a:solidFill>
                  <a:latin typeface="Josefin Sans" pitchFamily="34" charset="0"/>
                  <a:ea typeface="Josefin Sans" pitchFamily="34" charset="-122"/>
                  <a:cs typeface="Josefin Sans" pitchFamily="34" charset="-120"/>
                </a:rPr>
                <a:t>ResNet18 fine-</a:t>
              </a:r>
              <a:r>
                <a:rPr lang="fr-FR" sz="1500" noProof="0" dirty="0" err="1">
                  <a:solidFill>
                    <a:srgbClr val="464646"/>
                  </a:solidFill>
                  <a:latin typeface="Josefin Sans" pitchFamily="34" charset="0"/>
                  <a:ea typeface="Josefin Sans" pitchFamily="34" charset="-122"/>
                  <a:cs typeface="Josefin Sans" pitchFamily="34" charset="-120"/>
                </a:rPr>
                <a:t>tuné</a:t>
              </a:r>
              <a:r>
                <a:rPr lang="fr-FR" sz="1500" noProof="0" dirty="0">
                  <a:solidFill>
                    <a:srgbClr val="464646"/>
                  </a:solidFill>
                  <a:latin typeface="Josefin Sans" pitchFamily="34" charset="0"/>
                  <a:ea typeface="Josefin Sans" pitchFamily="34" charset="-122"/>
                  <a:cs typeface="Josefin Sans" pitchFamily="34" charset="-120"/>
                </a:rPr>
                <a:t> sur les 80 images fortes uniquement</a:t>
              </a:r>
              <a:endParaRPr lang="fr-FR" sz="1500" noProof="0" dirty="0"/>
            </a:p>
            <a:p>
              <a:pPr marL="342900" indent="-342900">
                <a:lnSpc>
                  <a:spcPct val="105000"/>
                </a:lnSpc>
                <a:spcAft>
                  <a:spcPts val="600"/>
                </a:spcAft>
                <a:buSzPct val="100000"/>
                <a:buChar char="•"/>
              </a:pPr>
              <a:r>
                <a:rPr lang="fr-FR" sz="1500" noProof="0" dirty="0">
                  <a:solidFill>
                    <a:srgbClr val="464646"/>
                  </a:solidFill>
                  <a:latin typeface="Josefin Sans" pitchFamily="34" charset="0"/>
                  <a:ea typeface="Josefin Sans" pitchFamily="34" charset="-122"/>
                  <a:cs typeface="Josefin Sans" pitchFamily="34" charset="-120"/>
                </a:rPr>
                <a:t>Couches </a:t>
              </a:r>
              <a:r>
                <a:rPr lang="fr-FR" sz="1500" i="1" noProof="0" dirty="0">
                  <a:solidFill>
                    <a:srgbClr val="464646"/>
                  </a:solidFill>
                  <a:latin typeface="Josefin Sans" pitchFamily="34" charset="0"/>
                  <a:ea typeface="Josefin Sans" pitchFamily="34" charset="-122"/>
                  <a:cs typeface="Josefin Sans" pitchFamily="34" charset="-120"/>
                </a:rPr>
                <a:t>layer4</a:t>
              </a:r>
              <a:r>
                <a:rPr lang="fr-FR" sz="1500" noProof="0" dirty="0">
                  <a:solidFill>
                    <a:srgbClr val="464646"/>
                  </a:solidFill>
                  <a:latin typeface="Josefin Sans" pitchFamily="34" charset="0"/>
                  <a:ea typeface="Josefin Sans" pitchFamily="34" charset="-122"/>
                  <a:cs typeface="Josefin Sans" pitchFamily="34" charset="-120"/>
                </a:rPr>
                <a:t> et </a:t>
              </a:r>
              <a:r>
                <a:rPr lang="fr-FR" sz="1500" i="1" noProof="0" dirty="0" err="1">
                  <a:solidFill>
                    <a:srgbClr val="464646"/>
                  </a:solidFill>
                  <a:latin typeface="Josefin Sans" pitchFamily="34" charset="0"/>
                  <a:ea typeface="Josefin Sans" pitchFamily="34" charset="-122"/>
                  <a:cs typeface="Josefin Sans" pitchFamily="34" charset="-120"/>
                </a:rPr>
                <a:t>fc</a:t>
              </a:r>
              <a:r>
                <a:rPr lang="fr-FR" sz="1500" noProof="0" dirty="0">
                  <a:solidFill>
                    <a:srgbClr val="464646"/>
                  </a:solidFill>
                  <a:latin typeface="Josefin Sans" pitchFamily="34" charset="0"/>
                  <a:ea typeface="Josefin Sans" pitchFamily="34" charset="-122"/>
                  <a:cs typeface="Josefin Sans" pitchFamily="34" charset="-120"/>
                </a:rPr>
                <a:t> dégelées, le reste gelé</a:t>
              </a:r>
              <a:endParaRPr lang="fr-FR" sz="1500" noProof="0" dirty="0"/>
            </a:p>
            <a:p>
              <a:pPr marL="342900" indent="-342900">
                <a:lnSpc>
                  <a:spcPct val="105000"/>
                </a:lnSpc>
                <a:buSzPct val="100000"/>
                <a:buChar char="•"/>
              </a:pPr>
              <a:r>
                <a:rPr lang="fr-FR" sz="1500" noProof="0" dirty="0">
                  <a:solidFill>
                    <a:srgbClr val="464646"/>
                  </a:solidFill>
                  <a:latin typeface="Josefin Sans" pitchFamily="34" charset="0"/>
                  <a:ea typeface="Josefin Sans" pitchFamily="34" charset="-122"/>
                  <a:cs typeface="Josefin Sans" pitchFamily="34" charset="-120"/>
                </a:rPr>
                <a:t>Sert de point de comparaison honnête</a:t>
              </a:r>
              <a:endParaRPr lang="fr-FR" sz="1500" noProof="0" dirty="0"/>
            </a:p>
          </p:txBody>
        </p:sp>
      </p:grpSp>
      <p:grpSp>
        <p:nvGrpSpPr>
          <p:cNvPr id="14" name="Groupe 13">
            <a:extLst>
              <a:ext uri="{FF2B5EF4-FFF2-40B4-BE49-F238E27FC236}">
                <a16:creationId xmlns:a16="http://schemas.microsoft.com/office/drawing/2014/main" id="{C1402E47-FEC3-97F0-05B3-14489BDE8DBA}"/>
              </a:ext>
            </a:extLst>
          </p:cNvPr>
          <p:cNvGrpSpPr/>
          <p:nvPr/>
        </p:nvGrpSpPr>
        <p:grpSpPr>
          <a:xfrm>
            <a:off x="6263640" y="1592580"/>
            <a:ext cx="5257800" cy="3703320"/>
            <a:chOff x="6263640" y="1592580"/>
            <a:chExt cx="5257800" cy="3703320"/>
          </a:xfrm>
        </p:grpSpPr>
        <p:sp>
          <p:nvSpPr>
            <p:cNvPr id="7" name="Shape 5"/>
            <p:cNvSpPr/>
            <p:nvPr/>
          </p:nvSpPr>
          <p:spPr>
            <a:xfrm>
              <a:off x="6263640" y="1592580"/>
              <a:ext cx="5257800" cy="3703320"/>
            </a:xfrm>
            <a:prstGeom prst="roundRect">
              <a:avLst>
                <a:gd name="adj" fmla="val 2222"/>
              </a:avLst>
            </a:prstGeom>
            <a:solidFill>
              <a:srgbClr val="E4EEF1"/>
            </a:solidFill>
            <a:ln/>
            <a:effectLst>
              <a:outerShdw blurRad="101600" dist="38100" dir="54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8" name="Shape 6"/>
            <p:cNvSpPr/>
            <p:nvPr/>
          </p:nvSpPr>
          <p:spPr>
            <a:xfrm>
              <a:off x="10744200" y="2123182"/>
              <a:ext cx="502920" cy="502920"/>
            </a:xfrm>
            <a:prstGeom prst="ellipse">
              <a:avLst/>
            </a:prstGeom>
            <a:solidFill>
              <a:srgbClr val="328490"/>
            </a:solidFill>
            <a:ln/>
          </p:spPr>
          <p:txBody>
            <a:bodyPr/>
            <a:lstStyle/>
            <a:p>
              <a:endParaRPr lang="fr-FR" noProof="0" dirty="0"/>
            </a:p>
          </p:txBody>
        </p:sp>
        <p:pic>
          <p:nvPicPr>
            <p:cNvPr id="9" name="Image 0" descr="Balance de la justice avec un remplissage uni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10851660" y="2228480"/>
              <a:ext cx="288000" cy="288000"/>
            </a:xfrm>
            <a:prstGeom prst="rect">
              <a:avLst/>
            </a:prstGeom>
          </p:spPr>
        </p:pic>
        <p:sp>
          <p:nvSpPr>
            <p:cNvPr id="10" name="Text 7"/>
            <p:cNvSpPr/>
            <p:nvPr/>
          </p:nvSpPr>
          <p:spPr>
            <a:xfrm>
              <a:off x="6667500" y="2110601"/>
              <a:ext cx="380238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fr-FR" sz="2400" b="1" noProof="0" dirty="0">
                  <a:solidFill>
                    <a:srgbClr val="328490"/>
                  </a:solidFill>
                  <a:latin typeface="Josefin Sans" pitchFamily="34" charset="0"/>
                  <a:ea typeface="Josefin Sans" pitchFamily="34" charset="-122"/>
                  <a:cs typeface="Josefin Sans" pitchFamily="34" charset="-120"/>
                </a:rPr>
                <a:t>Semi-supervisé</a:t>
              </a:r>
              <a:endParaRPr lang="fr-FR" sz="2400" noProof="0" dirty="0"/>
            </a:p>
          </p:txBody>
        </p:sp>
        <p:sp>
          <p:nvSpPr>
            <p:cNvPr id="11" name="Text 8"/>
            <p:cNvSpPr/>
            <p:nvPr/>
          </p:nvSpPr>
          <p:spPr>
            <a:xfrm>
              <a:off x="6667500" y="2369820"/>
              <a:ext cx="4625340" cy="2743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05000"/>
                </a:lnSpc>
                <a:spcAft>
                  <a:spcPts val="600"/>
                </a:spcAft>
                <a:buNone/>
              </a:pPr>
              <a:r>
                <a:rPr lang="fr-FR" sz="1500" b="1" noProof="0" dirty="0">
                  <a:solidFill>
                    <a:srgbClr val="464646"/>
                  </a:solidFill>
                  <a:latin typeface="Josefin Sans" pitchFamily="34" charset="0"/>
                  <a:ea typeface="Josefin Sans" pitchFamily="34" charset="-122"/>
                  <a:cs typeface="Josefin Sans" pitchFamily="34" charset="-120"/>
                </a:rPr>
                <a:t>Entraînement en deux phases</a:t>
              </a:r>
              <a:endParaRPr lang="fr-FR" sz="1500" noProof="0" dirty="0"/>
            </a:p>
            <a:p>
              <a:pPr marL="342900" indent="-342900">
                <a:lnSpc>
                  <a:spcPct val="105000"/>
                </a:lnSpc>
                <a:spcAft>
                  <a:spcPts val="600"/>
                </a:spcAft>
                <a:buSzPct val="100000"/>
                <a:buChar char="•"/>
              </a:pPr>
              <a:r>
                <a:rPr lang="fr-FR" sz="1500" noProof="0" dirty="0">
                  <a:solidFill>
                    <a:srgbClr val="464646"/>
                  </a:solidFill>
                  <a:latin typeface="Josefin Sans" pitchFamily="34" charset="0"/>
                  <a:ea typeface="Josefin Sans" pitchFamily="34" charset="-122"/>
                  <a:cs typeface="Josefin Sans" pitchFamily="34" charset="-120"/>
                </a:rPr>
                <a:t>Phase 1 : le jeu faible (1 406) pour des représentations générales</a:t>
              </a:r>
              <a:endParaRPr lang="fr-FR" sz="1500" noProof="0" dirty="0"/>
            </a:p>
            <a:p>
              <a:pPr marL="342900" indent="-342900">
                <a:lnSpc>
                  <a:spcPct val="105000"/>
                </a:lnSpc>
                <a:spcAft>
                  <a:spcPts val="600"/>
                </a:spcAft>
                <a:buSzPct val="100000"/>
                <a:buChar char="•"/>
              </a:pPr>
              <a:r>
                <a:rPr lang="fr-FR" sz="1500" noProof="0" dirty="0">
                  <a:solidFill>
                    <a:srgbClr val="464646"/>
                  </a:solidFill>
                  <a:latin typeface="Josefin Sans" pitchFamily="34" charset="0"/>
                  <a:ea typeface="Josefin Sans" pitchFamily="34" charset="-122"/>
                  <a:cs typeface="Josefin Sans" pitchFamily="34" charset="-120"/>
                </a:rPr>
                <a:t>Phase 2 : le jeu fort (80) pour spécialiser sur des labels forts</a:t>
              </a:r>
              <a:endParaRPr lang="fr-FR" sz="1500" noProof="0" dirty="0"/>
            </a:p>
            <a:p>
              <a:pPr marL="342900" indent="-342900">
                <a:lnSpc>
                  <a:spcPct val="105000"/>
                </a:lnSpc>
                <a:buSzPct val="100000"/>
                <a:buChar char="•"/>
              </a:pPr>
              <a:r>
                <a:rPr lang="fr-FR" sz="1500" noProof="0" dirty="0">
                  <a:solidFill>
                    <a:srgbClr val="464646"/>
                  </a:solidFill>
                  <a:latin typeface="Josefin Sans" pitchFamily="34" charset="0"/>
                  <a:ea typeface="Josefin Sans" pitchFamily="34" charset="-122"/>
                  <a:cs typeface="Josefin Sans" pitchFamily="34" charset="-120"/>
                </a:rPr>
                <a:t>Même architecture, même test que la </a:t>
              </a:r>
              <a:r>
                <a:rPr lang="fr-FR" sz="1500" noProof="0" dirty="0" err="1">
                  <a:solidFill>
                    <a:srgbClr val="464646"/>
                  </a:solidFill>
                  <a:latin typeface="Josefin Sans" pitchFamily="34" charset="0"/>
                  <a:ea typeface="Josefin Sans" pitchFamily="34" charset="-122"/>
                  <a:cs typeface="Josefin Sans" pitchFamily="34" charset="-120"/>
                </a:rPr>
                <a:t>baseline</a:t>
              </a:r>
              <a:endParaRPr lang="fr-FR" sz="1500" noProof="0" dirty="0"/>
            </a:p>
          </p:txBody>
        </p:sp>
      </p:grpSp>
      <p:sp>
        <p:nvSpPr>
          <p:cNvPr id="12" name="Text 9"/>
          <p:cNvSpPr/>
          <p:nvPr/>
        </p:nvSpPr>
        <p:spPr>
          <a:xfrm>
            <a:off x="640080" y="55702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400" i="1" noProof="0" dirty="0">
                <a:solidFill>
                  <a:srgbClr val="556269"/>
                </a:solidFill>
                <a:latin typeface="Josefin Sans" pitchFamily="34" charset="0"/>
                <a:ea typeface="Josefin Sans" pitchFamily="34" charset="-122"/>
                <a:cs typeface="Josefin Sans" pitchFamily="34" charset="-120"/>
              </a:rPr>
              <a:t>Comparaison équitable : architecture identique, seule change la stratégie d’entraînement.</a:t>
            </a:r>
          </a:p>
          <a:p>
            <a:pPr marL="0" indent="0" algn="ctr">
              <a:buNone/>
            </a:pPr>
            <a:r>
              <a:rPr lang="fr-FR" sz="1400" i="1" noProof="0" dirty="0">
                <a:solidFill>
                  <a:srgbClr val="556269"/>
                </a:solidFill>
                <a:latin typeface="Josefin Sans" pitchFamily="34" charset="0"/>
                <a:ea typeface="Josefin Sans" pitchFamily="34" charset="-122"/>
                <a:cs typeface="Josefin Sans" pitchFamily="34" charset="-120"/>
              </a:rPr>
              <a:t>Le jeu de test (20 images) reste invisible dans les deux cas.</a:t>
            </a:r>
            <a:endParaRPr lang="fr-FR" sz="1400" noProof="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1945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b="1" kern="0" spc="300" noProof="0" dirty="0">
                <a:solidFill>
                  <a:srgbClr val="6BA6AF"/>
                </a:solidFill>
                <a:latin typeface="Josefin Sans" pitchFamily="34" charset="0"/>
                <a:ea typeface="Josefin Sans" pitchFamily="34" charset="-122"/>
                <a:cs typeface="Josefin Sans" pitchFamily="34" charset="-120"/>
              </a:rPr>
              <a:t>RÉSULTATS</a:t>
            </a:r>
            <a:endParaRPr lang="fr-FR" sz="1200" noProof="0" dirty="0"/>
          </a:p>
        </p:txBody>
      </p:sp>
      <p:sp>
        <p:nvSpPr>
          <p:cNvPr id="3" name="Text 1"/>
          <p:cNvSpPr/>
          <p:nvPr/>
        </p:nvSpPr>
        <p:spPr>
          <a:xfrm>
            <a:off x="640080" y="40944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3000" b="1" noProof="0" dirty="0">
                <a:solidFill>
                  <a:srgbClr val="328490"/>
                </a:solidFill>
                <a:latin typeface="Josefin Sans" pitchFamily="34" charset="0"/>
                <a:ea typeface="Josefin Sans" pitchFamily="34" charset="-122"/>
                <a:cs typeface="Josefin Sans" pitchFamily="34" charset="-120"/>
              </a:rPr>
              <a:t>Le semi-supervisé détecte six fois plus de cancers</a:t>
            </a:r>
            <a:endParaRPr lang="fr-FR" sz="3000" noProof="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6125061"/>
              </p:ext>
            </p:extLst>
          </p:nvPr>
        </p:nvGraphicFramePr>
        <p:xfrm>
          <a:off x="640080" y="1644650"/>
          <a:ext cx="7498080" cy="2971800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fr-FR" sz="1500" b="1" noProof="0" dirty="0">
                          <a:solidFill>
                            <a:srgbClr val="FFFFFF"/>
                          </a:solidFill>
                          <a:latin typeface="Josefin Sans" pitchFamily="34" charset="0"/>
                          <a:ea typeface="Josefin Sans" pitchFamily="34" charset="-122"/>
                          <a:cs typeface="Josefin Sans" pitchFamily="34" charset="-120"/>
                        </a:rPr>
                        <a:t>Métrique (sur le test)</a:t>
                      </a:r>
                      <a:endParaRPr lang="fr-FR" sz="1500" noProof="0" dirty="0">
                        <a:latin typeface="Josefin Sans" charset="0"/>
                        <a:ea typeface="Josefin Sans" charset="0"/>
                        <a:cs typeface="Josefin Sans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1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84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fr-FR" sz="1500" b="1" noProof="0" dirty="0">
                          <a:solidFill>
                            <a:srgbClr val="FFFFFF"/>
                          </a:solidFill>
                          <a:latin typeface="Josefin Sans" pitchFamily="34" charset="0"/>
                          <a:ea typeface="Josefin Sans" pitchFamily="34" charset="-122"/>
                          <a:cs typeface="Josefin Sans" pitchFamily="34" charset="-120"/>
                        </a:rPr>
                        <a:t>Baseline</a:t>
                      </a:r>
                      <a:endParaRPr lang="fr-FR" sz="1500" noProof="0" dirty="0">
                        <a:latin typeface="Josefin Sans" charset="0"/>
                        <a:ea typeface="Josefin Sans" charset="0"/>
                        <a:cs typeface="Josefin Sans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1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5626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fr-FR" sz="1500" b="1" noProof="0" dirty="0">
                          <a:solidFill>
                            <a:srgbClr val="FFFFFF"/>
                          </a:solidFill>
                          <a:latin typeface="Josefin Sans" pitchFamily="34" charset="0"/>
                          <a:ea typeface="Josefin Sans" pitchFamily="34" charset="-122"/>
                          <a:cs typeface="Josefin Sans" pitchFamily="34" charset="-120"/>
                        </a:rPr>
                        <a:t>Semi-supervisé</a:t>
                      </a:r>
                      <a:endParaRPr lang="fr-FR" sz="1500" noProof="0" dirty="0">
                        <a:latin typeface="Josefin Sans" charset="0"/>
                        <a:ea typeface="Josefin Sans" charset="0"/>
                        <a:cs typeface="Josefin Sans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1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A6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fr-FR" sz="1500" noProof="0" dirty="0" err="1">
                          <a:solidFill>
                            <a:srgbClr val="464646"/>
                          </a:solidFill>
                          <a:latin typeface="Josefin Sans" pitchFamily="34" charset="0"/>
                          <a:ea typeface="Josefin Sans" pitchFamily="34" charset="-122"/>
                          <a:cs typeface="Josefin Sans" pitchFamily="34" charset="-120"/>
                        </a:rPr>
                        <a:t>Accuracy</a:t>
                      </a:r>
                      <a:r>
                        <a:rPr lang="fr-FR" sz="1500" noProof="0" dirty="0">
                          <a:solidFill>
                            <a:srgbClr val="464646"/>
                          </a:solidFill>
                          <a:latin typeface="Josefin Sans" pitchFamily="34" charset="0"/>
                          <a:ea typeface="Josefin Sans" pitchFamily="34" charset="-122"/>
                          <a:cs typeface="Josefin Sans" pitchFamily="34" charset="-120"/>
                        </a:rPr>
                        <a:t> globale</a:t>
                      </a:r>
                      <a:endParaRPr lang="fr-FR" sz="1500" noProof="0" dirty="0">
                        <a:latin typeface="Josefin Sans" charset="0"/>
                        <a:ea typeface="Josefin Sans" charset="0"/>
                        <a:cs typeface="Josefin Sans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1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fr-FR" sz="1600" b="1" noProof="0" dirty="0">
                          <a:solidFill>
                            <a:srgbClr val="556269"/>
                          </a:solidFill>
                          <a:latin typeface="Josefin Sans" pitchFamily="34" charset="0"/>
                          <a:ea typeface="Josefin Sans" pitchFamily="34" charset="-122"/>
                          <a:cs typeface="Josefin Sans" pitchFamily="34" charset="-120"/>
                        </a:rPr>
                        <a:t>55 %</a:t>
                      </a:r>
                      <a:endParaRPr lang="fr-FR" sz="1600" noProof="0" dirty="0">
                        <a:latin typeface="Josefin Sans" charset="0"/>
                        <a:ea typeface="Josefin Sans" charset="0"/>
                        <a:cs typeface="Josefin Sans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1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fr-FR" sz="1800" b="1" noProof="0" dirty="0">
                          <a:solidFill>
                            <a:srgbClr val="328490"/>
                          </a:solidFill>
                          <a:latin typeface="Josefin Sans" pitchFamily="34" charset="0"/>
                          <a:ea typeface="Josefin Sans" pitchFamily="34" charset="-122"/>
                          <a:cs typeface="Josefin Sans" pitchFamily="34" charset="-120"/>
                        </a:rPr>
                        <a:t>80 %</a:t>
                      </a:r>
                      <a:endParaRPr lang="fr-FR" sz="1800" noProof="0" dirty="0">
                        <a:latin typeface="Josefin Sans" charset="0"/>
                        <a:ea typeface="Josefin Sans" charset="0"/>
                        <a:cs typeface="Josefin Sans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1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E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fr-FR" sz="1500" noProof="0" dirty="0" err="1">
                          <a:solidFill>
                            <a:srgbClr val="464646"/>
                          </a:solidFill>
                          <a:latin typeface="Josefin Sans" pitchFamily="34" charset="0"/>
                          <a:ea typeface="Josefin Sans" pitchFamily="34" charset="-122"/>
                          <a:cs typeface="Josefin Sans" pitchFamily="34" charset="-120"/>
                        </a:rPr>
                        <a:t>Recall</a:t>
                      </a:r>
                      <a:r>
                        <a:rPr lang="fr-FR" sz="1500" noProof="0" dirty="0">
                          <a:solidFill>
                            <a:srgbClr val="464646"/>
                          </a:solidFill>
                          <a:latin typeface="Josefin Sans" pitchFamily="34" charset="0"/>
                          <a:ea typeface="Josefin Sans" pitchFamily="34" charset="-122"/>
                          <a:cs typeface="Josefin Sans" pitchFamily="34" charset="-120"/>
                        </a:rPr>
                        <a:t> cancer (cancers détectés)</a:t>
                      </a:r>
                      <a:endParaRPr lang="fr-FR" sz="1500" noProof="0" dirty="0">
                        <a:latin typeface="Josefin Sans" charset="0"/>
                        <a:ea typeface="Josefin Sans" charset="0"/>
                        <a:cs typeface="Josefin Sans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1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fr-FR" sz="1600" b="1" noProof="0" dirty="0">
                          <a:solidFill>
                            <a:srgbClr val="556269"/>
                          </a:solidFill>
                          <a:latin typeface="Josefin Sans" pitchFamily="34" charset="0"/>
                          <a:ea typeface="Josefin Sans" pitchFamily="34" charset="-122"/>
                          <a:cs typeface="Josefin Sans" pitchFamily="34" charset="-120"/>
                        </a:rPr>
                        <a:t>0,10</a:t>
                      </a:r>
                      <a:endParaRPr lang="fr-FR" sz="1600" noProof="0" dirty="0">
                        <a:latin typeface="Josefin Sans" charset="0"/>
                        <a:ea typeface="Josefin Sans" charset="0"/>
                        <a:cs typeface="Josefin Sans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1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fr-FR" sz="1800" b="1" noProof="0" dirty="0">
                          <a:solidFill>
                            <a:srgbClr val="328490"/>
                          </a:solidFill>
                          <a:latin typeface="Josefin Sans" pitchFamily="34" charset="0"/>
                          <a:ea typeface="Josefin Sans" pitchFamily="34" charset="-122"/>
                          <a:cs typeface="Josefin Sans" pitchFamily="34" charset="-120"/>
                        </a:rPr>
                        <a:t>0,60</a:t>
                      </a:r>
                      <a:endParaRPr lang="fr-FR" sz="1800" noProof="0" dirty="0">
                        <a:latin typeface="Josefin Sans" charset="0"/>
                        <a:ea typeface="Josefin Sans" charset="0"/>
                        <a:cs typeface="Josefin Sans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1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E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fr-FR" sz="1500" noProof="0" dirty="0">
                          <a:solidFill>
                            <a:srgbClr val="464646"/>
                          </a:solidFill>
                          <a:latin typeface="Josefin Sans" pitchFamily="34" charset="0"/>
                          <a:ea typeface="Josefin Sans" pitchFamily="34" charset="-122"/>
                          <a:cs typeface="Josefin Sans" pitchFamily="34" charset="-120"/>
                        </a:rPr>
                        <a:t>F1 score classe cancer</a:t>
                      </a:r>
                      <a:endParaRPr lang="fr-FR" sz="1500" noProof="0" dirty="0">
                        <a:latin typeface="Josefin Sans" charset="0"/>
                        <a:ea typeface="Josefin Sans" charset="0"/>
                        <a:cs typeface="Josefin Sans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1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fr-FR" sz="1600" b="1" noProof="0" dirty="0">
                          <a:solidFill>
                            <a:srgbClr val="556269"/>
                          </a:solidFill>
                          <a:latin typeface="Josefin Sans" pitchFamily="34" charset="0"/>
                          <a:ea typeface="Josefin Sans" pitchFamily="34" charset="-122"/>
                          <a:cs typeface="Josefin Sans" pitchFamily="34" charset="-120"/>
                        </a:rPr>
                        <a:t>0,18</a:t>
                      </a:r>
                      <a:endParaRPr lang="fr-FR" sz="1600" noProof="0" dirty="0">
                        <a:latin typeface="Josefin Sans" charset="0"/>
                        <a:ea typeface="Josefin Sans" charset="0"/>
                        <a:cs typeface="Josefin Sans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1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fr-FR" sz="1800" b="1" noProof="0" dirty="0">
                          <a:solidFill>
                            <a:srgbClr val="328490"/>
                          </a:solidFill>
                          <a:latin typeface="Josefin Sans" pitchFamily="34" charset="0"/>
                          <a:ea typeface="Josefin Sans" pitchFamily="34" charset="-122"/>
                          <a:cs typeface="Josefin Sans" pitchFamily="34" charset="-120"/>
                        </a:rPr>
                        <a:t>0,75</a:t>
                      </a:r>
                      <a:endParaRPr lang="fr-FR" sz="1800" noProof="0" dirty="0">
                        <a:latin typeface="Josefin Sans" charset="0"/>
                        <a:ea typeface="Josefin Sans" charset="0"/>
                        <a:cs typeface="Josefin Sans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F1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F6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E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13" name="Groupe 12">
            <a:extLst>
              <a:ext uri="{FF2B5EF4-FFF2-40B4-BE49-F238E27FC236}">
                <a16:creationId xmlns:a16="http://schemas.microsoft.com/office/drawing/2014/main" id="{8FE3F4BA-4BEA-A4AE-A0DC-970E4DC560BC}"/>
              </a:ext>
            </a:extLst>
          </p:cNvPr>
          <p:cNvGrpSpPr/>
          <p:nvPr/>
        </p:nvGrpSpPr>
        <p:grpSpPr>
          <a:xfrm>
            <a:off x="8366760" y="1644650"/>
            <a:ext cx="3154680" cy="1417320"/>
            <a:chOff x="8366760" y="1644650"/>
            <a:chExt cx="3154680" cy="1417320"/>
          </a:xfrm>
        </p:grpSpPr>
        <p:sp>
          <p:nvSpPr>
            <p:cNvPr id="5" name="Shape 2"/>
            <p:cNvSpPr/>
            <p:nvPr/>
          </p:nvSpPr>
          <p:spPr>
            <a:xfrm>
              <a:off x="8366760" y="1644650"/>
              <a:ext cx="3154680" cy="1417320"/>
            </a:xfrm>
            <a:prstGeom prst="roundRect">
              <a:avLst>
                <a:gd name="adj" fmla="val 5806"/>
              </a:avLst>
            </a:prstGeom>
            <a:solidFill>
              <a:srgbClr val="328490"/>
            </a:solidFill>
            <a:ln/>
            <a:effectLst>
              <a:outerShdw blurRad="101600" dist="38100" dir="54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6" name="Text 3"/>
            <p:cNvSpPr/>
            <p:nvPr/>
          </p:nvSpPr>
          <p:spPr>
            <a:xfrm>
              <a:off x="8366760" y="1781810"/>
              <a:ext cx="3154680" cy="685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fr-FR" sz="4400" b="1" noProof="0" dirty="0">
                  <a:solidFill>
                    <a:srgbClr val="FFFFFF"/>
                  </a:solidFill>
                  <a:latin typeface="Josefin Sans" pitchFamily="34" charset="0"/>
                  <a:ea typeface="Josefin Sans" pitchFamily="34" charset="-122"/>
                  <a:cs typeface="Josefin Sans" pitchFamily="34" charset="-120"/>
                </a:rPr>
                <a:t>+25</a:t>
              </a:r>
              <a:endParaRPr lang="fr-FR" sz="4400" noProof="0" dirty="0"/>
            </a:p>
          </p:txBody>
        </p:sp>
        <p:sp>
          <p:nvSpPr>
            <p:cNvPr id="7" name="Text 4"/>
            <p:cNvSpPr/>
            <p:nvPr/>
          </p:nvSpPr>
          <p:spPr>
            <a:xfrm>
              <a:off x="8366760" y="2531618"/>
              <a:ext cx="315468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fr-FR" sz="1400" noProof="0" dirty="0">
                  <a:solidFill>
                    <a:srgbClr val="E2F0F2"/>
                  </a:solidFill>
                  <a:latin typeface="Josefin Sans" pitchFamily="34" charset="0"/>
                  <a:ea typeface="Josefin Sans" pitchFamily="34" charset="-122"/>
                  <a:cs typeface="Josefin Sans" pitchFamily="34" charset="-120"/>
                </a:rPr>
                <a:t>points d'</a:t>
              </a:r>
              <a:r>
                <a:rPr lang="fr-FR" sz="1400" noProof="0" dirty="0" err="1">
                  <a:solidFill>
                    <a:srgbClr val="E2F0F2"/>
                  </a:solidFill>
                  <a:latin typeface="Josefin Sans" pitchFamily="34" charset="0"/>
                  <a:ea typeface="Josefin Sans" pitchFamily="34" charset="-122"/>
                  <a:cs typeface="Josefin Sans" pitchFamily="34" charset="-120"/>
                </a:rPr>
                <a:t>accuracy</a:t>
              </a:r>
              <a:endParaRPr lang="fr-FR" sz="1400" noProof="0" dirty="0"/>
            </a:p>
          </p:txBody>
        </p:sp>
      </p:grpSp>
      <p:grpSp>
        <p:nvGrpSpPr>
          <p:cNvPr id="14" name="Groupe 13">
            <a:extLst>
              <a:ext uri="{FF2B5EF4-FFF2-40B4-BE49-F238E27FC236}">
                <a16:creationId xmlns:a16="http://schemas.microsoft.com/office/drawing/2014/main" id="{28342752-4701-D21A-91B9-554EBDFBA348}"/>
              </a:ext>
            </a:extLst>
          </p:cNvPr>
          <p:cNvGrpSpPr/>
          <p:nvPr/>
        </p:nvGrpSpPr>
        <p:grpSpPr>
          <a:xfrm>
            <a:off x="8366760" y="3199130"/>
            <a:ext cx="3154680" cy="1417320"/>
            <a:chOff x="8366760" y="3199130"/>
            <a:chExt cx="3154680" cy="1417320"/>
          </a:xfrm>
        </p:grpSpPr>
        <p:sp>
          <p:nvSpPr>
            <p:cNvPr id="8" name="Shape 5"/>
            <p:cNvSpPr/>
            <p:nvPr/>
          </p:nvSpPr>
          <p:spPr>
            <a:xfrm>
              <a:off x="8366760" y="3199130"/>
              <a:ext cx="3154680" cy="1417320"/>
            </a:xfrm>
            <a:prstGeom prst="roundRect">
              <a:avLst>
                <a:gd name="adj" fmla="val 5806"/>
              </a:avLst>
            </a:prstGeom>
            <a:solidFill>
              <a:srgbClr val="FFFFFF"/>
            </a:solidFill>
            <a:ln/>
            <a:effectLst>
              <a:outerShdw blurRad="101600" dist="38100" dir="54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9" name="Text 6"/>
            <p:cNvSpPr/>
            <p:nvPr/>
          </p:nvSpPr>
          <p:spPr>
            <a:xfrm>
              <a:off x="8366760" y="3336290"/>
              <a:ext cx="3154680" cy="685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fr-FR" sz="4400" b="1" noProof="0" dirty="0">
                  <a:solidFill>
                    <a:srgbClr val="328490"/>
                  </a:solidFill>
                  <a:latin typeface="Josefin Sans" pitchFamily="34" charset="0"/>
                  <a:ea typeface="Josefin Sans" pitchFamily="34" charset="-122"/>
                  <a:cs typeface="Josefin Sans" pitchFamily="34" charset="-120"/>
                </a:rPr>
                <a:t>× 6</a:t>
              </a:r>
              <a:endParaRPr lang="fr-FR" sz="4400" noProof="0" dirty="0"/>
            </a:p>
          </p:txBody>
        </p:sp>
        <p:sp>
          <p:nvSpPr>
            <p:cNvPr id="4" name="Text 7"/>
            <p:cNvSpPr/>
            <p:nvPr/>
          </p:nvSpPr>
          <p:spPr>
            <a:xfrm>
              <a:off x="8503920" y="3989633"/>
              <a:ext cx="288036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ct val="95000"/>
                </a:lnSpc>
                <a:buNone/>
              </a:pPr>
              <a:r>
                <a:rPr lang="fr-FR" sz="1300" noProof="0" dirty="0">
                  <a:solidFill>
                    <a:srgbClr val="464646"/>
                  </a:solidFill>
                  <a:latin typeface="Josefin Sans" pitchFamily="34" charset="0"/>
                  <a:ea typeface="Josefin Sans" pitchFamily="34" charset="-122"/>
                  <a:cs typeface="Josefin Sans" pitchFamily="34" charset="-120"/>
                </a:rPr>
                <a:t>cancers détectés (</a:t>
              </a:r>
              <a:r>
                <a:rPr lang="fr-FR" sz="1300" noProof="0" dirty="0" err="1">
                  <a:solidFill>
                    <a:srgbClr val="464646"/>
                  </a:solidFill>
                  <a:latin typeface="Josefin Sans" pitchFamily="34" charset="0"/>
                  <a:ea typeface="Josefin Sans" pitchFamily="34" charset="-122"/>
                  <a:cs typeface="Josefin Sans" pitchFamily="34" charset="-120"/>
                </a:rPr>
                <a:t>recall</a:t>
              </a:r>
              <a:r>
                <a:rPr lang="fr-FR" sz="1300" noProof="0" dirty="0">
                  <a:solidFill>
                    <a:srgbClr val="464646"/>
                  </a:solidFill>
                  <a:latin typeface="Josefin Sans" pitchFamily="34" charset="0"/>
                  <a:ea typeface="Josefin Sans" pitchFamily="34" charset="-122"/>
                  <a:cs typeface="Josefin Sans" pitchFamily="34" charset="-120"/>
                </a:rPr>
                <a:t> 0,10 → 0,60)</a:t>
              </a:r>
              <a:endParaRPr lang="fr-FR" sz="1300" noProof="0" dirty="0"/>
            </a:p>
          </p:txBody>
        </p:sp>
      </p:grpSp>
      <p:grpSp>
        <p:nvGrpSpPr>
          <p:cNvPr id="20" name="Groupe 19">
            <a:extLst>
              <a:ext uri="{FF2B5EF4-FFF2-40B4-BE49-F238E27FC236}">
                <a16:creationId xmlns:a16="http://schemas.microsoft.com/office/drawing/2014/main" id="{A211EF97-6A0E-A7C5-3A26-2AEDB033512B}"/>
              </a:ext>
            </a:extLst>
          </p:cNvPr>
          <p:cNvGrpSpPr/>
          <p:nvPr/>
        </p:nvGrpSpPr>
        <p:grpSpPr>
          <a:xfrm>
            <a:off x="640080" y="5101660"/>
            <a:ext cx="10881360" cy="960120"/>
            <a:chOff x="640080" y="5101660"/>
            <a:chExt cx="10881360" cy="960120"/>
          </a:xfrm>
        </p:grpSpPr>
        <p:sp>
          <p:nvSpPr>
            <p:cNvPr id="11" name="Shape 8"/>
            <p:cNvSpPr/>
            <p:nvPr/>
          </p:nvSpPr>
          <p:spPr>
            <a:xfrm>
              <a:off x="640080" y="5101660"/>
              <a:ext cx="10881360" cy="960120"/>
            </a:xfrm>
            <a:prstGeom prst="roundRect">
              <a:avLst>
                <a:gd name="adj" fmla="val 8571"/>
              </a:avLst>
            </a:prstGeom>
            <a:solidFill>
              <a:srgbClr val="E4EEF1"/>
            </a:solidFill>
            <a:ln/>
            <a:effectLst>
              <a:outerShdw blurRad="101600" dist="38100" dir="54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12" name="Text 9"/>
            <p:cNvSpPr/>
            <p:nvPr/>
          </p:nvSpPr>
          <p:spPr>
            <a:xfrm>
              <a:off x="914400" y="5244526"/>
              <a:ext cx="10332720" cy="685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00000"/>
                </a:lnSpc>
                <a:buNone/>
              </a:pPr>
              <a:r>
                <a:rPr lang="fr-FR" sz="1450" b="1" noProof="0" dirty="0">
                  <a:solidFill>
                    <a:srgbClr val="328490"/>
                  </a:solidFill>
                  <a:latin typeface="Josefin Sans" pitchFamily="34" charset="0"/>
                  <a:ea typeface="Josefin Sans" pitchFamily="34" charset="-122"/>
                  <a:cs typeface="Josefin Sans" pitchFamily="34" charset="-120"/>
                </a:rPr>
                <a:t>Ce qui compte en dépistage : </a:t>
              </a:r>
              <a:r>
                <a:rPr lang="fr-FR" sz="1450" noProof="0" dirty="0">
                  <a:solidFill>
                    <a:srgbClr val="464646"/>
                  </a:solidFill>
                  <a:latin typeface="Josefin Sans" pitchFamily="34" charset="0"/>
                  <a:ea typeface="Josefin Sans" pitchFamily="34" charset="-122"/>
                  <a:cs typeface="Josefin Sans" pitchFamily="34" charset="-120"/>
                </a:rPr>
                <a:t>la </a:t>
              </a:r>
              <a:r>
                <a:rPr lang="fr-FR" sz="1450" noProof="0" dirty="0" err="1">
                  <a:solidFill>
                    <a:srgbClr val="464646"/>
                  </a:solidFill>
                  <a:latin typeface="Josefin Sans" pitchFamily="34" charset="0"/>
                  <a:ea typeface="Josefin Sans" pitchFamily="34" charset="-122"/>
                  <a:cs typeface="Josefin Sans" pitchFamily="34" charset="-120"/>
                </a:rPr>
                <a:t>baseline</a:t>
              </a:r>
              <a:r>
                <a:rPr lang="fr-FR" sz="1450" noProof="0" dirty="0">
                  <a:solidFill>
                    <a:srgbClr val="464646"/>
                  </a:solidFill>
                  <a:latin typeface="Josefin Sans" pitchFamily="34" charset="0"/>
                  <a:ea typeface="Josefin Sans" pitchFamily="34" charset="-122"/>
                  <a:cs typeface="Josefin Sans" pitchFamily="34" charset="-120"/>
                </a:rPr>
                <a:t> ne repère qu'un cancer sur dix, le modèle semi-supervisé en repère six sur dix. Ce sont des faux négatifs évités, l'erreur la plus coûteuse dans ce contexte.</a:t>
              </a:r>
              <a:endParaRPr lang="fr-FR" sz="1450" noProof="0" dirty="0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81F37DED-924C-1DCE-903D-8F28A5703D04}"/>
              </a:ext>
            </a:extLst>
          </p:cNvPr>
          <p:cNvSpPr/>
          <p:nvPr/>
        </p:nvSpPr>
        <p:spPr>
          <a:xfrm>
            <a:off x="640080" y="3061970"/>
            <a:ext cx="7498080" cy="777663"/>
          </a:xfrm>
          <a:prstGeom prst="rect">
            <a:avLst/>
          </a:prstGeom>
          <a:solidFill>
            <a:srgbClr val="F1F6F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166F8DA-B08B-C170-877F-588B33714847}"/>
              </a:ext>
            </a:extLst>
          </p:cNvPr>
          <p:cNvSpPr/>
          <p:nvPr/>
        </p:nvSpPr>
        <p:spPr>
          <a:xfrm>
            <a:off x="640080" y="3839633"/>
            <a:ext cx="7498080" cy="777663"/>
          </a:xfrm>
          <a:prstGeom prst="rect">
            <a:avLst/>
          </a:prstGeom>
          <a:solidFill>
            <a:srgbClr val="F1F6F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1945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b="1" kern="0" spc="300" noProof="0" dirty="0">
                <a:solidFill>
                  <a:srgbClr val="6BA6AF"/>
                </a:solidFill>
                <a:latin typeface="Josefin Sans" pitchFamily="34" charset="0"/>
                <a:ea typeface="Josefin Sans" pitchFamily="34" charset="-122"/>
                <a:cs typeface="Josefin Sans" pitchFamily="34" charset="-120"/>
              </a:rPr>
              <a:t>RÉSULTATS · LECTURE CRITIQUE</a:t>
            </a:r>
            <a:endParaRPr lang="fr-FR" sz="1200" noProof="0" dirty="0"/>
          </a:p>
        </p:txBody>
      </p:sp>
      <p:sp>
        <p:nvSpPr>
          <p:cNvPr id="3" name="Text 1"/>
          <p:cNvSpPr/>
          <p:nvPr/>
        </p:nvSpPr>
        <p:spPr>
          <a:xfrm>
            <a:off x="640080" y="41579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3000" b="1" noProof="0" dirty="0">
                <a:solidFill>
                  <a:srgbClr val="328490"/>
                </a:solidFill>
                <a:latin typeface="Josefin Sans" pitchFamily="34" charset="0"/>
                <a:ea typeface="Josefin Sans" pitchFamily="34" charset="-122"/>
                <a:cs typeface="Josefin Sans" pitchFamily="34" charset="-120"/>
              </a:rPr>
              <a:t>AUC comparable, mais un seuil de décision mal calibré</a:t>
            </a:r>
            <a:endParaRPr lang="fr-FR" sz="3000" noProof="0" dirty="0"/>
          </a:p>
        </p:txBody>
      </p:sp>
      <p:grpSp>
        <p:nvGrpSpPr>
          <p:cNvPr id="13" name="Groupe 12">
            <a:extLst>
              <a:ext uri="{FF2B5EF4-FFF2-40B4-BE49-F238E27FC236}">
                <a16:creationId xmlns:a16="http://schemas.microsoft.com/office/drawing/2014/main" id="{44BD4D06-9AE1-9685-D417-38523D3447F1}"/>
              </a:ext>
            </a:extLst>
          </p:cNvPr>
          <p:cNvGrpSpPr/>
          <p:nvPr/>
        </p:nvGrpSpPr>
        <p:grpSpPr>
          <a:xfrm>
            <a:off x="640080" y="1554480"/>
            <a:ext cx="5394960" cy="4572000"/>
            <a:chOff x="640080" y="1554480"/>
            <a:chExt cx="5394960" cy="4572000"/>
          </a:xfrm>
        </p:grpSpPr>
        <p:sp>
          <p:nvSpPr>
            <p:cNvPr id="4" name="Shape 2"/>
            <p:cNvSpPr/>
            <p:nvPr/>
          </p:nvSpPr>
          <p:spPr>
            <a:xfrm>
              <a:off x="640080" y="1554480"/>
              <a:ext cx="5394960" cy="4572000"/>
            </a:xfrm>
            <a:prstGeom prst="roundRect">
              <a:avLst>
                <a:gd name="adj" fmla="val 1872"/>
              </a:avLst>
            </a:prstGeom>
            <a:solidFill>
              <a:srgbClr val="FFFFFF"/>
            </a:solidFill>
            <a:ln/>
            <a:effectLst>
              <a:outerShdw blurRad="101600" dist="38100" dir="54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fr-FR" noProof="0" dirty="0"/>
            </a:p>
          </p:txBody>
        </p:sp>
        <p:pic>
          <p:nvPicPr>
            <p:cNvPr id="5" name="Image 0" descr="Courbes ROC : baseline AUC 0,92 en bleu, semi-supervisé AUC 0,90 en orange, toutes deux nettement au-dessus de la diagonale du hasard.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22960" y="1737360"/>
              <a:ext cx="5029200" cy="4030452"/>
            </a:xfrm>
            <a:prstGeom prst="rect">
              <a:avLst/>
            </a:prstGeom>
          </p:spPr>
        </p:pic>
        <p:sp>
          <p:nvSpPr>
            <p:cNvPr id="6" name="Text 3"/>
            <p:cNvSpPr/>
            <p:nvPr/>
          </p:nvSpPr>
          <p:spPr>
            <a:xfrm>
              <a:off x="822960" y="5765742"/>
              <a:ext cx="5029200" cy="229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fr-FR" sz="1200" i="1" noProof="0" dirty="0">
                  <a:solidFill>
                    <a:srgbClr val="556269"/>
                  </a:solidFill>
                  <a:latin typeface="Josefin Sans" pitchFamily="34" charset="0"/>
                  <a:ea typeface="Josefin Sans" pitchFamily="34" charset="-122"/>
                  <a:cs typeface="Josefin Sans" pitchFamily="34" charset="-120"/>
                </a:rPr>
                <a:t>Courbe ROC : </a:t>
              </a:r>
              <a:r>
                <a:rPr lang="fr-FR" sz="1200" i="1" noProof="0" dirty="0" err="1">
                  <a:solidFill>
                    <a:srgbClr val="556269"/>
                  </a:solidFill>
                  <a:latin typeface="Josefin Sans" pitchFamily="34" charset="0"/>
                  <a:ea typeface="Josefin Sans" pitchFamily="34" charset="-122"/>
                  <a:cs typeface="Josefin Sans" pitchFamily="34" charset="-120"/>
                </a:rPr>
                <a:t>baseline</a:t>
              </a:r>
              <a:r>
                <a:rPr lang="fr-FR" sz="1200" i="1" noProof="0" dirty="0">
                  <a:solidFill>
                    <a:srgbClr val="556269"/>
                  </a:solidFill>
                  <a:latin typeface="Josefin Sans" pitchFamily="34" charset="0"/>
                  <a:ea typeface="Josefin Sans" pitchFamily="34" charset="-122"/>
                  <a:cs typeface="Josefin Sans" pitchFamily="34" charset="-120"/>
                </a:rPr>
                <a:t> vs semi-supervisé</a:t>
              </a:r>
              <a:endParaRPr lang="fr-FR" sz="1200" noProof="0" dirty="0"/>
            </a:p>
          </p:txBody>
        </p:sp>
      </p:grpSp>
      <p:grpSp>
        <p:nvGrpSpPr>
          <p:cNvPr id="14" name="Groupe 13">
            <a:extLst>
              <a:ext uri="{FF2B5EF4-FFF2-40B4-BE49-F238E27FC236}">
                <a16:creationId xmlns:a16="http://schemas.microsoft.com/office/drawing/2014/main" id="{22AF87EF-B423-7A0A-5DEB-E4506C7D2705}"/>
              </a:ext>
            </a:extLst>
          </p:cNvPr>
          <p:cNvGrpSpPr/>
          <p:nvPr/>
        </p:nvGrpSpPr>
        <p:grpSpPr>
          <a:xfrm>
            <a:off x="6126480" y="1554480"/>
            <a:ext cx="5394960" cy="1600200"/>
            <a:chOff x="6126480" y="1554480"/>
            <a:chExt cx="5394960" cy="1600200"/>
          </a:xfrm>
        </p:grpSpPr>
        <p:sp>
          <p:nvSpPr>
            <p:cNvPr id="7" name="Shape 4"/>
            <p:cNvSpPr/>
            <p:nvPr/>
          </p:nvSpPr>
          <p:spPr>
            <a:xfrm>
              <a:off x="6126480" y="1554480"/>
              <a:ext cx="5394960" cy="1600200"/>
            </a:xfrm>
            <a:prstGeom prst="roundRect">
              <a:avLst>
                <a:gd name="adj" fmla="val 5294"/>
              </a:avLst>
            </a:prstGeom>
            <a:solidFill>
              <a:srgbClr val="E4EEF1"/>
            </a:solidFill>
            <a:ln/>
            <a:effectLst>
              <a:outerShdw blurRad="101600" dist="38100" dir="54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8" name="Text 5"/>
            <p:cNvSpPr/>
            <p:nvPr/>
          </p:nvSpPr>
          <p:spPr>
            <a:xfrm>
              <a:off x="6400800" y="1751330"/>
              <a:ext cx="484632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fr-FR" sz="1600" b="1" noProof="0" dirty="0">
                  <a:solidFill>
                    <a:srgbClr val="328490"/>
                  </a:solidFill>
                  <a:latin typeface="Josefin Sans" pitchFamily="34" charset="0"/>
                  <a:ea typeface="Josefin Sans" pitchFamily="34" charset="-122"/>
                  <a:cs typeface="Josefin Sans" pitchFamily="34" charset="-120"/>
                </a:rPr>
                <a:t>Un résultat en apparence paradoxal</a:t>
              </a:r>
              <a:endParaRPr lang="fr-FR" sz="1600" noProof="0" dirty="0"/>
            </a:p>
          </p:txBody>
        </p:sp>
        <p:sp>
          <p:nvSpPr>
            <p:cNvPr id="9" name="Text 6"/>
            <p:cNvSpPr/>
            <p:nvPr/>
          </p:nvSpPr>
          <p:spPr>
            <a:xfrm>
              <a:off x="6400800" y="2156814"/>
              <a:ext cx="4892040" cy="8686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03000"/>
                </a:lnSpc>
                <a:buNone/>
              </a:pPr>
              <a:r>
                <a:rPr lang="fr-FR" sz="1400" noProof="0" dirty="0">
                  <a:solidFill>
                    <a:srgbClr val="464646"/>
                  </a:solidFill>
                  <a:latin typeface="Josefin Sans" pitchFamily="34" charset="0"/>
                  <a:ea typeface="Josefin Sans" pitchFamily="34" charset="-122"/>
                  <a:cs typeface="Josefin Sans" pitchFamily="34" charset="-120"/>
                </a:rPr>
                <a:t>L'AUC de la </a:t>
              </a:r>
              <a:r>
                <a:rPr lang="fr-FR" sz="1400" noProof="0" dirty="0" err="1">
                  <a:solidFill>
                    <a:srgbClr val="464646"/>
                  </a:solidFill>
                  <a:latin typeface="Josefin Sans" pitchFamily="34" charset="0"/>
                  <a:ea typeface="Josefin Sans" pitchFamily="34" charset="-122"/>
                  <a:cs typeface="Josefin Sans" pitchFamily="34" charset="-120"/>
                </a:rPr>
                <a:t>baseline</a:t>
              </a:r>
              <a:r>
                <a:rPr lang="fr-FR" sz="1400" noProof="0" dirty="0">
                  <a:solidFill>
                    <a:srgbClr val="464646"/>
                  </a:solidFill>
                  <a:latin typeface="Josefin Sans" pitchFamily="34" charset="0"/>
                  <a:ea typeface="Josefin Sans" pitchFamily="34" charset="-122"/>
                  <a:cs typeface="Josefin Sans" pitchFamily="34" charset="-120"/>
                </a:rPr>
                <a:t> (0,92) dépasse légèrement celle du semi-supervisé (0,90). Sur le papier, elle « classe » aussi bien les images.</a:t>
              </a:r>
              <a:endParaRPr lang="fr-FR" sz="1400" noProof="0" dirty="0"/>
            </a:p>
          </p:txBody>
        </p:sp>
      </p:grp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5B902467-3EC2-22CD-BD13-8D65485E55D4}"/>
              </a:ext>
            </a:extLst>
          </p:cNvPr>
          <p:cNvGrpSpPr/>
          <p:nvPr/>
        </p:nvGrpSpPr>
        <p:grpSpPr>
          <a:xfrm>
            <a:off x="6126480" y="3291840"/>
            <a:ext cx="5394960" cy="2834640"/>
            <a:chOff x="6126480" y="3291840"/>
            <a:chExt cx="5394960" cy="2834640"/>
          </a:xfrm>
        </p:grpSpPr>
        <p:sp>
          <p:nvSpPr>
            <p:cNvPr id="10" name="Shape 7"/>
            <p:cNvSpPr/>
            <p:nvPr/>
          </p:nvSpPr>
          <p:spPr>
            <a:xfrm>
              <a:off x="6126480" y="3291840"/>
              <a:ext cx="5394960" cy="2834640"/>
            </a:xfrm>
            <a:prstGeom prst="roundRect">
              <a:avLst>
                <a:gd name="adj" fmla="val 2903"/>
              </a:avLst>
            </a:prstGeom>
            <a:solidFill>
              <a:srgbClr val="FFFFFF"/>
            </a:solidFill>
            <a:ln/>
            <a:effectLst>
              <a:outerShdw blurRad="101600" dist="38100" dir="54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11" name="Text 8"/>
            <p:cNvSpPr/>
            <p:nvPr/>
          </p:nvSpPr>
          <p:spPr>
            <a:xfrm>
              <a:off x="6400800" y="3474720"/>
              <a:ext cx="484632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fr-FR" sz="1600" b="1" noProof="0" dirty="0">
                  <a:solidFill>
                    <a:srgbClr val="328490"/>
                  </a:solidFill>
                  <a:latin typeface="Josefin Sans" pitchFamily="34" charset="0"/>
                  <a:ea typeface="Josefin Sans" pitchFamily="34" charset="-122"/>
                  <a:cs typeface="Josefin Sans" pitchFamily="34" charset="-120"/>
                </a:rPr>
                <a:t>L'explication</a:t>
              </a:r>
              <a:endParaRPr lang="fr-FR" sz="1600" noProof="0" dirty="0"/>
            </a:p>
          </p:txBody>
        </p:sp>
        <p:sp>
          <p:nvSpPr>
            <p:cNvPr id="12" name="Text 9"/>
            <p:cNvSpPr/>
            <p:nvPr/>
          </p:nvSpPr>
          <p:spPr>
            <a:xfrm>
              <a:off x="6400800" y="3858941"/>
              <a:ext cx="4892040" cy="21031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342900" indent="-342900">
                <a:lnSpc>
                  <a:spcPct val="103000"/>
                </a:lnSpc>
                <a:spcAft>
                  <a:spcPts val="800"/>
                </a:spcAft>
                <a:buSzPct val="100000"/>
                <a:buChar char="•"/>
              </a:pPr>
              <a:r>
                <a:rPr lang="fr-FR" sz="1400" noProof="0" dirty="0">
                  <a:solidFill>
                    <a:srgbClr val="464646"/>
                  </a:solidFill>
                  <a:latin typeface="Josefin Sans" pitchFamily="34" charset="0"/>
                  <a:ea typeface="Josefin Sans" pitchFamily="34" charset="-122"/>
                  <a:cs typeface="Josefin Sans" pitchFamily="34" charset="-120"/>
                </a:rPr>
                <a:t>L'AUC juge la capacité à ordonner les images, tous seuils confondus.</a:t>
              </a:r>
              <a:endParaRPr lang="fr-FR" sz="1400" noProof="0" dirty="0"/>
            </a:p>
            <a:p>
              <a:pPr marL="342900" indent="-342900">
                <a:lnSpc>
                  <a:spcPct val="103000"/>
                </a:lnSpc>
                <a:spcAft>
                  <a:spcPts val="800"/>
                </a:spcAft>
                <a:buSzPct val="100000"/>
                <a:buChar char="•"/>
              </a:pPr>
              <a:r>
                <a:rPr lang="fr-FR" sz="1400" noProof="0" dirty="0">
                  <a:solidFill>
                    <a:srgbClr val="464646"/>
                  </a:solidFill>
                  <a:latin typeface="Josefin Sans" pitchFamily="34" charset="0"/>
                  <a:ea typeface="Josefin Sans" pitchFamily="34" charset="-122"/>
                  <a:cs typeface="Josefin Sans" pitchFamily="34" charset="-120"/>
                </a:rPr>
                <a:t>Au seuil réel de 0,5, la </a:t>
              </a:r>
              <a:r>
                <a:rPr lang="fr-FR" sz="1400" noProof="0" dirty="0" err="1">
                  <a:solidFill>
                    <a:srgbClr val="464646"/>
                  </a:solidFill>
                  <a:latin typeface="Josefin Sans" pitchFamily="34" charset="0"/>
                  <a:ea typeface="Josefin Sans" pitchFamily="34" charset="-122"/>
                  <a:cs typeface="Josefin Sans" pitchFamily="34" charset="-120"/>
                </a:rPr>
                <a:t>baseline</a:t>
              </a:r>
              <a:r>
                <a:rPr lang="fr-FR" sz="1400" noProof="0" dirty="0">
                  <a:solidFill>
                    <a:srgbClr val="464646"/>
                  </a:solidFill>
                  <a:latin typeface="Josefin Sans" pitchFamily="34" charset="0"/>
                  <a:ea typeface="Josefin Sans" pitchFamily="34" charset="-122"/>
                  <a:cs typeface="Josefin Sans" pitchFamily="34" charset="-120"/>
                </a:rPr>
                <a:t> décide très mal : </a:t>
              </a:r>
              <a:r>
                <a:rPr lang="fr-FR" sz="1400" noProof="0" dirty="0" err="1">
                  <a:solidFill>
                    <a:srgbClr val="464646"/>
                  </a:solidFill>
                  <a:latin typeface="Josefin Sans" pitchFamily="34" charset="0"/>
                  <a:ea typeface="Josefin Sans" pitchFamily="34" charset="-122"/>
                  <a:cs typeface="Josefin Sans" pitchFamily="34" charset="-120"/>
                </a:rPr>
                <a:t>recall</a:t>
              </a:r>
              <a:r>
                <a:rPr lang="fr-FR" sz="1400" noProof="0" dirty="0">
                  <a:solidFill>
                    <a:srgbClr val="464646"/>
                  </a:solidFill>
                  <a:latin typeface="Josefin Sans" pitchFamily="34" charset="0"/>
                  <a:ea typeface="Josefin Sans" pitchFamily="34" charset="-122"/>
                  <a:cs typeface="Josefin Sans" pitchFamily="34" charset="-120"/>
                </a:rPr>
                <a:t> 0,10. Ses 80 images ne suffisent pas à caler une frontière fiable.</a:t>
              </a:r>
              <a:endParaRPr lang="fr-FR" sz="1400" noProof="0" dirty="0"/>
            </a:p>
            <a:p>
              <a:pPr marL="342900" indent="-342900">
                <a:lnSpc>
                  <a:spcPct val="103000"/>
                </a:lnSpc>
                <a:buSzPct val="100000"/>
                <a:buChar char="•"/>
              </a:pPr>
              <a:r>
                <a:rPr lang="fr-FR" sz="1400" noProof="0" dirty="0">
                  <a:solidFill>
                    <a:srgbClr val="464646"/>
                  </a:solidFill>
                  <a:latin typeface="Josefin Sans" pitchFamily="34" charset="0"/>
                  <a:ea typeface="Josefin Sans" pitchFamily="34" charset="-122"/>
                  <a:cs typeface="Josefin Sans" pitchFamily="34" charset="-120"/>
                </a:rPr>
                <a:t>Le volume du jeu faible ne gonfle pas l'AUC, mais rend les décisions utilisables au seuil standard : c'est le critère qui compte en usage réel.</a:t>
              </a:r>
              <a:endParaRPr lang="fr-FR" sz="1400" noProof="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1945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b="1" kern="0" spc="300" noProof="0" dirty="0">
                <a:solidFill>
                  <a:srgbClr val="6BA6AF"/>
                </a:solidFill>
                <a:latin typeface="Josefin Sans" pitchFamily="34" charset="0"/>
                <a:ea typeface="Josefin Sans" pitchFamily="34" charset="-122"/>
                <a:cs typeface="Josefin Sans" pitchFamily="34" charset="-120"/>
              </a:rPr>
              <a:t>RECOMMANDATION · PASSAGE À L'ÉCHELLE</a:t>
            </a:r>
            <a:endParaRPr lang="fr-FR" sz="1200" noProof="0" dirty="0"/>
          </a:p>
        </p:txBody>
      </p:sp>
      <p:sp>
        <p:nvSpPr>
          <p:cNvPr id="3" name="Text 1"/>
          <p:cNvSpPr/>
          <p:nvPr/>
        </p:nvSpPr>
        <p:spPr>
          <a:xfrm>
            <a:off x="640080" y="635706"/>
            <a:ext cx="10972800" cy="902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3000" b="1" noProof="0" dirty="0">
                <a:solidFill>
                  <a:srgbClr val="328490"/>
                </a:solidFill>
                <a:latin typeface="Josefin Sans" pitchFamily="34" charset="0"/>
                <a:ea typeface="Josefin Sans" pitchFamily="34" charset="-122"/>
                <a:cs typeface="Josefin Sans" pitchFamily="34" charset="-120"/>
              </a:rPr>
              <a:t>4 millions d'images pour 5 000 € : l'extrapolation naïve ne fonctionne pas</a:t>
            </a:r>
            <a:endParaRPr lang="fr-FR" sz="3000" noProof="0" dirty="0"/>
          </a:p>
        </p:txBody>
      </p:sp>
      <p:grpSp>
        <p:nvGrpSpPr>
          <p:cNvPr id="18" name="Groupe 17">
            <a:extLst>
              <a:ext uri="{FF2B5EF4-FFF2-40B4-BE49-F238E27FC236}">
                <a16:creationId xmlns:a16="http://schemas.microsoft.com/office/drawing/2014/main" id="{4D6D8050-E6DA-E055-D278-418BA40ABB8E}"/>
              </a:ext>
            </a:extLst>
          </p:cNvPr>
          <p:cNvGrpSpPr/>
          <p:nvPr/>
        </p:nvGrpSpPr>
        <p:grpSpPr>
          <a:xfrm>
            <a:off x="640080" y="1767166"/>
            <a:ext cx="3502152" cy="1684090"/>
            <a:chOff x="640080" y="1627466"/>
            <a:chExt cx="3502152" cy="1684090"/>
          </a:xfrm>
        </p:grpSpPr>
        <p:sp>
          <p:nvSpPr>
            <p:cNvPr id="4" name="Shape 2"/>
            <p:cNvSpPr/>
            <p:nvPr/>
          </p:nvSpPr>
          <p:spPr>
            <a:xfrm>
              <a:off x="640080" y="1627466"/>
              <a:ext cx="3502152" cy="1684090"/>
            </a:xfrm>
            <a:prstGeom prst="roundRect">
              <a:avLst>
                <a:gd name="adj" fmla="val 4500"/>
              </a:avLst>
            </a:prstGeom>
            <a:solidFill>
              <a:srgbClr val="FFFFFF"/>
            </a:solidFill>
            <a:ln/>
            <a:effectLst>
              <a:outerShdw blurRad="101600" dist="38100" dir="54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5" name="Text 3"/>
            <p:cNvSpPr/>
            <p:nvPr/>
          </p:nvSpPr>
          <p:spPr>
            <a:xfrm>
              <a:off x="868680" y="1757076"/>
              <a:ext cx="3063240" cy="7772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fr-FR" sz="3400" b="1" noProof="0" dirty="0">
                  <a:solidFill>
                    <a:srgbClr val="328490"/>
                  </a:solidFill>
                  <a:latin typeface="Josefin Sans" pitchFamily="34" charset="0"/>
                  <a:ea typeface="Josefin Sans" pitchFamily="34" charset="-122"/>
                  <a:cs typeface="Josefin Sans" pitchFamily="34" charset="-120"/>
                </a:rPr>
                <a:t>0,20 €</a:t>
              </a:r>
              <a:endParaRPr lang="fr-FR" sz="3400" noProof="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868680" y="2534316"/>
              <a:ext cx="3063240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fr-FR" sz="1350" dirty="0">
                  <a:solidFill>
                    <a:srgbClr val="464646"/>
                  </a:solidFill>
                  <a:latin typeface="Josefin Sans" pitchFamily="34" charset="0"/>
                  <a:ea typeface="Josefin Sans" pitchFamily="34" charset="-122"/>
                  <a:cs typeface="Josefin Sans" pitchFamily="34" charset="-120"/>
                </a:rPr>
                <a:t>C</a:t>
              </a:r>
              <a:r>
                <a:rPr lang="fr-FR" sz="1350" noProof="0" dirty="0">
                  <a:solidFill>
                    <a:srgbClr val="464646"/>
                  </a:solidFill>
                  <a:latin typeface="Josefin Sans" pitchFamily="34" charset="0"/>
                  <a:ea typeface="Josefin Sans" pitchFamily="34" charset="-122"/>
                  <a:cs typeface="Josefin Sans" pitchFamily="34" charset="-120"/>
                </a:rPr>
                <a:t>oût de labellisation par image aujourd'hui (300 € / 1 506)</a:t>
              </a:r>
              <a:endParaRPr lang="fr-FR" sz="1350" noProof="0" dirty="0"/>
            </a:p>
          </p:txBody>
        </p:sp>
      </p:grpSp>
      <p:grpSp>
        <p:nvGrpSpPr>
          <p:cNvPr id="19" name="Groupe 18">
            <a:extLst>
              <a:ext uri="{FF2B5EF4-FFF2-40B4-BE49-F238E27FC236}">
                <a16:creationId xmlns:a16="http://schemas.microsoft.com/office/drawing/2014/main" id="{F4533C8D-4740-D904-BD63-536F81ED1C02}"/>
              </a:ext>
            </a:extLst>
          </p:cNvPr>
          <p:cNvGrpSpPr/>
          <p:nvPr/>
        </p:nvGrpSpPr>
        <p:grpSpPr>
          <a:xfrm>
            <a:off x="4325112" y="1767166"/>
            <a:ext cx="3502152" cy="1684090"/>
            <a:chOff x="4325112" y="1627466"/>
            <a:chExt cx="3502152" cy="1684090"/>
          </a:xfrm>
        </p:grpSpPr>
        <p:sp>
          <p:nvSpPr>
            <p:cNvPr id="7" name="Shape 5"/>
            <p:cNvSpPr/>
            <p:nvPr/>
          </p:nvSpPr>
          <p:spPr>
            <a:xfrm>
              <a:off x="4325112" y="1627466"/>
              <a:ext cx="3502152" cy="1684090"/>
            </a:xfrm>
            <a:prstGeom prst="roundRect">
              <a:avLst>
                <a:gd name="adj" fmla="val 4500"/>
              </a:avLst>
            </a:prstGeom>
            <a:solidFill>
              <a:srgbClr val="FFFFFF"/>
            </a:solidFill>
            <a:ln/>
            <a:effectLst>
              <a:outerShdw blurRad="101600" dist="38100" dir="54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4553712" y="1757076"/>
              <a:ext cx="3063240" cy="7772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fr-FR" sz="3400" b="1" noProof="0" dirty="0">
                  <a:solidFill>
                    <a:srgbClr val="B04A3F"/>
                  </a:solidFill>
                  <a:latin typeface="Josefin Sans" pitchFamily="34" charset="0"/>
                  <a:ea typeface="Josefin Sans" pitchFamily="34" charset="-122"/>
                  <a:cs typeface="Josefin Sans" pitchFamily="34" charset="-120"/>
                </a:rPr>
                <a:t>≈ 850 000 €</a:t>
              </a:r>
              <a:endParaRPr lang="fr-FR" sz="3400" noProof="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4553712" y="2534316"/>
              <a:ext cx="3063240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fr-FR" sz="1350" dirty="0">
                  <a:solidFill>
                    <a:srgbClr val="464646"/>
                  </a:solidFill>
                  <a:latin typeface="Josefin Sans" pitchFamily="34" charset="0"/>
                  <a:ea typeface="Josefin Sans" pitchFamily="34" charset="-122"/>
                  <a:cs typeface="Josefin Sans" pitchFamily="34" charset="-120"/>
                </a:rPr>
                <a:t>S</a:t>
              </a:r>
              <a:r>
                <a:rPr lang="fr-FR" sz="1350" noProof="0" dirty="0">
                  <a:solidFill>
                    <a:srgbClr val="464646"/>
                  </a:solidFill>
                  <a:latin typeface="Josefin Sans" pitchFamily="34" charset="0"/>
                  <a:ea typeface="Josefin Sans" pitchFamily="34" charset="-122"/>
                  <a:cs typeface="Josefin Sans" pitchFamily="34" charset="-120"/>
                </a:rPr>
                <a:t>i on extrapole ce taux linéairement à 4 M d'images</a:t>
              </a:r>
              <a:endParaRPr lang="fr-FR" sz="1350" noProof="0" dirty="0"/>
            </a:p>
          </p:txBody>
        </p:sp>
      </p:grpSp>
      <p:grpSp>
        <p:nvGrpSpPr>
          <p:cNvPr id="20" name="Groupe 19">
            <a:extLst>
              <a:ext uri="{FF2B5EF4-FFF2-40B4-BE49-F238E27FC236}">
                <a16:creationId xmlns:a16="http://schemas.microsoft.com/office/drawing/2014/main" id="{8B830980-0D18-59E0-E19D-907A2CD19D32}"/>
              </a:ext>
            </a:extLst>
          </p:cNvPr>
          <p:cNvGrpSpPr/>
          <p:nvPr/>
        </p:nvGrpSpPr>
        <p:grpSpPr>
          <a:xfrm>
            <a:off x="8010144" y="1767166"/>
            <a:ext cx="3502152" cy="1684090"/>
            <a:chOff x="8010144" y="1627466"/>
            <a:chExt cx="3502152" cy="1684090"/>
          </a:xfrm>
        </p:grpSpPr>
        <p:sp>
          <p:nvSpPr>
            <p:cNvPr id="10" name="Shape 8"/>
            <p:cNvSpPr/>
            <p:nvPr/>
          </p:nvSpPr>
          <p:spPr>
            <a:xfrm>
              <a:off x="8010144" y="1627466"/>
              <a:ext cx="3502152" cy="1684090"/>
            </a:xfrm>
            <a:prstGeom prst="roundRect">
              <a:avLst>
                <a:gd name="adj" fmla="val 4500"/>
              </a:avLst>
            </a:prstGeom>
            <a:solidFill>
              <a:srgbClr val="FFFFFF"/>
            </a:solidFill>
            <a:ln/>
            <a:effectLst>
              <a:outerShdw blurRad="101600" dist="38100" dir="54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8238744" y="1757076"/>
              <a:ext cx="3063240" cy="7772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fr-FR" sz="3400" b="1" noProof="0" dirty="0">
                  <a:solidFill>
                    <a:srgbClr val="B04A3F"/>
                  </a:solidFill>
                  <a:latin typeface="Josefin Sans" pitchFamily="34" charset="0"/>
                  <a:ea typeface="Josefin Sans" pitchFamily="34" charset="-122"/>
                  <a:cs typeface="Josefin Sans" pitchFamily="34" charset="-120"/>
                </a:rPr>
                <a:t>× 160</a:t>
              </a:r>
              <a:endParaRPr lang="fr-FR" sz="3400" noProof="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8238744" y="2534316"/>
              <a:ext cx="3063240" cy="5765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fr-FR" sz="1350" dirty="0">
                  <a:solidFill>
                    <a:srgbClr val="464646"/>
                  </a:solidFill>
                  <a:latin typeface="Josefin Sans" pitchFamily="34" charset="0"/>
                  <a:ea typeface="Josefin Sans" pitchFamily="34" charset="-122"/>
                  <a:cs typeface="Josefin Sans" pitchFamily="34" charset="-120"/>
                </a:rPr>
                <a:t>A</a:t>
              </a:r>
              <a:r>
                <a:rPr lang="fr-FR" sz="1350" noProof="0" dirty="0" err="1">
                  <a:solidFill>
                    <a:srgbClr val="464646"/>
                  </a:solidFill>
                  <a:latin typeface="Josefin Sans" pitchFamily="34" charset="0"/>
                  <a:ea typeface="Josefin Sans" pitchFamily="34" charset="-122"/>
                  <a:cs typeface="Josefin Sans" pitchFamily="34" charset="-120"/>
                </a:rPr>
                <a:t>u-dessus</a:t>
              </a:r>
              <a:r>
                <a:rPr lang="fr-FR" sz="1350" noProof="0" dirty="0">
                  <a:solidFill>
                    <a:srgbClr val="464646"/>
                  </a:solidFill>
                  <a:latin typeface="Josefin Sans" pitchFamily="34" charset="0"/>
                  <a:ea typeface="Josefin Sans" pitchFamily="34" charset="-122"/>
                  <a:cs typeface="Josefin Sans" pitchFamily="34" charset="-120"/>
                </a:rPr>
                <a:t> de l'enveloppe de 5 000 € disponible</a:t>
              </a:r>
              <a:endParaRPr lang="fr-FR" sz="1350" noProof="0" dirty="0"/>
            </a:p>
          </p:txBody>
        </p:sp>
      </p:grpSp>
      <p:grpSp>
        <p:nvGrpSpPr>
          <p:cNvPr id="21" name="Groupe 20">
            <a:extLst>
              <a:ext uri="{FF2B5EF4-FFF2-40B4-BE49-F238E27FC236}">
                <a16:creationId xmlns:a16="http://schemas.microsoft.com/office/drawing/2014/main" id="{A77B20CA-A10F-B304-AC72-1FED7B937668}"/>
              </a:ext>
            </a:extLst>
          </p:cNvPr>
          <p:cNvGrpSpPr/>
          <p:nvPr/>
        </p:nvGrpSpPr>
        <p:grpSpPr>
          <a:xfrm>
            <a:off x="640080" y="3679856"/>
            <a:ext cx="10881360" cy="2468880"/>
            <a:chOff x="640080" y="3540156"/>
            <a:chExt cx="10881360" cy="2468880"/>
          </a:xfrm>
        </p:grpSpPr>
        <p:sp>
          <p:nvSpPr>
            <p:cNvPr id="13" name="Shape 11"/>
            <p:cNvSpPr/>
            <p:nvPr/>
          </p:nvSpPr>
          <p:spPr>
            <a:xfrm>
              <a:off x="640080" y="3540156"/>
              <a:ext cx="10881360" cy="2468880"/>
            </a:xfrm>
            <a:prstGeom prst="roundRect">
              <a:avLst>
                <a:gd name="adj" fmla="val 3333"/>
              </a:avLst>
            </a:prstGeom>
            <a:solidFill>
              <a:srgbClr val="E4EEF1"/>
            </a:solidFill>
            <a:ln/>
            <a:effectLst>
              <a:outerShdw blurRad="101600" dist="38100" dir="54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14" name="Shape 12"/>
            <p:cNvSpPr/>
            <p:nvPr/>
          </p:nvSpPr>
          <p:spPr>
            <a:xfrm>
              <a:off x="960120" y="3846226"/>
              <a:ext cx="548640" cy="548640"/>
            </a:xfrm>
            <a:prstGeom prst="ellipse">
              <a:avLst/>
            </a:prstGeom>
            <a:solidFill>
              <a:srgbClr val="328490"/>
            </a:solidFill>
            <a:ln/>
          </p:spPr>
          <p:txBody>
            <a:bodyPr/>
            <a:lstStyle/>
            <a:p>
              <a:endParaRPr lang="fr-FR" noProof="0" dirty="0"/>
            </a:p>
          </p:txBody>
        </p:sp>
        <p:pic>
          <p:nvPicPr>
            <p:cNvPr id="15" name="Image 0" descr="Fiole avec un remplissage uni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1054440" y="3920986"/>
              <a:ext cx="360000" cy="360000"/>
            </a:xfrm>
            <a:prstGeom prst="rect">
              <a:avLst/>
            </a:prstGeom>
          </p:spPr>
        </p:pic>
        <p:sp>
          <p:nvSpPr>
            <p:cNvPr id="16" name="Text 13"/>
            <p:cNvSpPr/>
            <p:nvPr/>
          </p:nvSpPr>
          <p:spPr>
            <a:xfrm>
              <a:off x="1691640" y="3738276"/>
              <a:ext cx="960120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fr-FR" sz="1700" b="1" noProof="0" dirty="0">
                  <a:solidFill>
                    <a:srgbClr val="328490"/>
                  </a:solidFill>
                  <a:latin typeface="Josefin Sans" pitchFamily="34" charset="0"/>
                  <a:ea typeface="Josefin Sans" pitchFamily="34" charset="-122"/>
                  <a:cs typeface="Josefin Sans" pitchFamily="34" charset="-120"/>
                </a:rPr>
                <a:t>Mais cette extrapolation linéaire est trop pessimiste</a:t>
              </a:r>
              <a:endParaRPr lang="fr-FR" sz="1700" noProof="0" dirty="0"/>
            </a:p>
          </p:txBody>
        </p:sp>
        <p:sp>
          <p:nvSpPr>
            <p:cNvPr id="17" name="Text 14"/>
            <p:cNvSpPr/>
            <p:nvPr/>
          </p:nvSpPr>
          <p:spPr>
            <a:xfrm>
              <a:off x="1691640" y="4215288"/>
              <a:ext cx="9601200" cy="1645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342900" indent="-342900">
                <a:lnSpc>
                  <a:spcPct val="103000"/>
                </a:lnSpc>
                <a:spcAft>
                  <a:spcPts val="700"/>
                </a:spcAft>
                <a:buSzPct val="100000"/>
                <a:buChar char="•"/>
              </a:pPr>
              <a:r>
                <a:rPr lang="fr-FR" sz="1450" noProof="0" dirty="0">
                  <a:solidFill>
                    <a:srgbClr val="464646"/>
                  </a:solidFill>
                  <a:latin typeface="Josefin Sans" pitchFamily="34" charset="0"/>
                  <a:ea typeface="Josefin Sans" pitchFamily="34" charset="-122"/>
                  <a:cs typeface="Josefin Sans" pitchFamily="34" charset="-120"/>
                </a:rPr>
                <a:t>Les 300 € actuels incluent des étapes non répétables : l'exploration (PCA, t-SNE, comparaison de méthodes) sert à valider la méthode, une fois pour toutes.</a:t>
              </a:r>
              <a:endParaRPr lang="fr-FR" sz="1450" noProof="0" dirty="0"/>
            </a:p>
            <a:p>
              <a:pPr marL="342900" indent="-342900">
                <a:lnSpc>
                  <a:spcPct val="103000"/>
                </a:lnSpc>
                <a:spcAft>
                  <a:spcPts val="700"/>
                </a:spcAft>
                <a:buSzPct val="100000"/>
                <a:buChar char="•"/>
              </a:pPr>
              <a:r>
                <a:rPr lang="fr-FR" sz="1450" noProof="0" dirty="0">
                  <a:solidFill>
                    <a:srgbClr val="464646"/>
                  </a:solidFill>
                  <a:latin typeface="Josefin Sans" pitchFamily="34" charset="0"/>
                  <a:ea typeface="Josefin Sans" pitchFamily="34" charset="-122"/>
                  <a:cs typeface="Josefin Sans" pitchFamily="34" charset="-120"/>
                </a:rPr>
                <a:t>À grande échelle, seul l'entraînement semi-supervisé se répète réellement. Le coût marginal par image est donc bien inférieur à 0,20 €.</a:t>
              </a:r>
              <a:endParaRPr lang="fr-FR" sz="1450" noProof="0" dirty="0"/>
            </a:p>
            <a:p>
              <a:pPr marL="342900" indent="-342900">
                <a:lnSpc>
                  <a:spcPct val="103000"/>
                </a:lnSpc>
                <a:buSzPct val="100000"/>
                <a:buChar char="•"/>
              </a:pPr>
              <a:r>
                <a:rPr lang="fr-FR" sz="1450" noProof="0" dirty="0">
                  <a:solidFill>
                    <a:srgbClr val="464646"/>
                  </a:solidFill>
                  <a:latin typeface="Josefin Sans" pitchFamily="34" charset="0"/>
                  <a:ea typeface="Josefin Sans" pitchFamily="34" charset="-122"/>
                  <a:cs typeface="Josefin Sans" pitchFamily="34" charset="-120"/>
                </a:rPr>
                <a:t>Conclusion : reproduire le pipeline à l'identique n'est pas soutenable, mais une version allégée peut viser l'enveloppe.</a:t>
              </a:r>
              <a:endParaRPr lang="fr-FR" sz="1450" noProof="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1945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b="1" kern="0" spc="300" noProof="0" dirty="0">
                <a:solidFill>
                  <a:srgbClr val="6BA6AF"/>
                </a:solidFill>
                <a:latin typeface="Josefin Sans" pitchFamily="34" charset="0"/>
                <a:ea typeface="Josefin Sans" pitchFamily="34" charset="-122"/>
                <a:cs typeface="Josefin Sans" pitchFamily="34" charset="-120"/>
              </a:rPr>
              <a:t>RECOMMANDATION · CONDITIONS</a:t>
            </a:r>
            <a:endParaRPr lang="fr-FR" sz="1200" noProof="0" dirty="0"/>
          </a:p>
        </p:txBody>
      </p:sp>
      <p:sp>
        <p:nvSpPr>
          <p:cNvPr id="3" name="Text 1"/>
          <p:cNvSpPr/>
          <p:nvPr/>
        </p:nvSpPr>
        <p:spPr>
          <a:xfrm>
            <a:off x="640080" y="442884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3000" b="1" noProof="0" dirty="0">
                <a:solidFill>
                  <a:srgbClr val="328490"/>
                </a:solidFill>
                <a:latin typeface="Josefin Sans" pitchFamily="34" charset="0"/>
                <a:ea typeface="Josefin Sans" pitchFamily="34" charset="-122"/>
                <a:cs typeface="Josefin Sans" pitchFamily="34" charset="-120"/>
              </a:rPr>
              <a:t>Trois conditions pour tenir l'enveloppe à 4 M d'images</a:t>
            </a:r>
            <a:endParaRPr lang="fr-FR" sz="3000" noProof="0" dirty="0"/>
          </a:p>
        </p:txBody>
      </p:sp>
      <p:grpSp>
        <p:nvGrpSpPr>
          <p:cNvPr id="23" name="Groupe 22">
            <a:extLst>
              <a:ext uri="{FF2B5EF4-FFF2-40B4-BE49-F238E27FC236}">
                <a16:creationId xmlns:a16="http://schemas.microsoft.com/office/drawing/2014/main" id="{D49AF09B-B71B-2274-D927-14F228445A0E}"/>
              </a:ext>
            </a:extLst>
          </p:cNvPr>
          <p:cNvGrpSpPr/>
          <p:nvPr/>
        </p:nvGrpSpPr>
        <p:grpSpPr>
          <a:xfrm>
            <a:off x="640080" y="1758401"/>
            <a:ext cx="3502152" cy="2578356"/>
            <a:chOff x="640080" y="1758401"/>
            <a:chExt cx="3502152" cy="2578356"/>
          </a:xfrm>
        </p:grpSpPr>
        <p:sp>
          <p:nvSpPr>
            <p:cNvPr id="4" name="Shape 2"/>
            <p:cNvSpPr/>
            <p:nvPr/>
          </p:nvSpPr>
          <p:spPr>
            <a:xfrm>
              <a:off x="640080" y="1758401"/>
              <a:ext cx="3502152" cy="2578356"/>
            </a:xfrm>
            <a:prstGeom prst="roundRect">
              <a:avLst>
                <a:gd name="adj" fmla="val 2500"/>
              </a:avLst>
            </a:prstGeom>
            <a:solidFill>
              <a:srgbClr val="FFFFFF"/>
            </a:solidFill>
            <a:ln/>
            <a:effectLst>
              <a:outerShdw blurRad="101600" dist="38100" dir="54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5" name="Shape 3"/>
            <p:cNvSpPr/>
            <p:nvPr/>
          </p:nvSpPr>
          <p:spPr>
            <a:xfrm>
              <a:off x="960120" y="2078441"/>
              <a:ext cx="658368" cy="658368"/>
            </a:xfrm>
            <a:prstGeom prst="ellipse">
              <a:avLst/>
            </a:prstGeom>
            <a:solidFill>
              <a:srgbClr val="328490"/>
            </a:solidFill>
            <a:ln/>
          </p:spPr>
          <p:txBody>
            <a:bodyPr/>
            <a:lstStyle/>
            <a:p>
              <a:endParaRPr lang="fr-FR" noProof="0" dirty="0"/>
            </a:p>
          </p:txBody>
        </p:sp>
        <p:pic>
          <p:nvPicPr>
            <p:cNvPr id="6" name="Image 0" descr="Processeur avec un remplissage uni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1091304" y="2209624"/>
              <a:ext cx="396000" cy="396000"/>
            </a:xfrm>
            <a:prstGeom prst="rect">
              <a:avLst/>
            </a:prstGeom>
          </p:spPr>
        </p:pic>
        <p:sp>
          <p:nvSpPr>
            <p:cNvPr id="7" name="Text 4"/>
            <p:cNvSpPr/>
            <p:nvPr/>
          </p:nvSpPr>
          <p:spPr>
            <a:xfrm>
              <a:off x="1832908" y="2064724"/>
              <a:ext cx="1778886" cy="685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95000"/>
                </a:lnSpc>
                <a:buNone/>
              </a:pPr>
              <a:r>
                <a:rPr lang="fr-FR" sz="1800" b="1" noProof="0" dirty="0">
                  <a:solidFill>
                    <a:srgbClr val="328490"/>
                  </a:solidFill>
                  <a:latin typeface="Josefin Sans" pitchFamily="34" charset="0"/>
                  <a:ea typeface="Josefin Sans" pitchFamily="34" charset="-122"/>
                  <a:cs typeface="Josefin Sans" pitchFamily="34" charset="-120"/>
                </a:rPr>
                <a:t>GPU pour l'entraînement</a:t>
              </a:r>
              <a:endParaRPr lang="fr-FR" sz="1800" noProof="0" dirty="0"/>
            </a:p>
          </p:txBody>
        </p:sp>
        <p:sp>
          <p:nvSpPr>
            <p:cNvPr id="8" name="Text 5"/>
            <p:cNvSpPr/>
            <p:nvPr/>
          </p:nvSpPr>
          <p:spPr>
            <a:xfrm>
              <a:off x="960120" y="3016040"/>
              <a:ext cx="2971800" cy="92224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ct val="105000"/>
                </a:lnSpc>
                <a:buNone/>
              </a:pPr>
              <a:r>
                <a:rPr lang="fr-FR" sz="1350" noProof="0" dirty="0">
                  <a:solidFill>
                    <a:srgbClr val="464646"/>
                  </a:solidFill>
                  <a:latin typeface="Josefin Sans" pitchFamily="34" charset="0"/>
                  <a:ea typeface="Josefin Sans" pitchFamily="34" charset="-122"/>
                  <a:cs typeface="Josefin Sans" pitchFamily="34" charset="-120"/>
                </a:rPr>
                <a:t>Le CPU actuel ne tient pas à cette échelle. La phase sur le jeu faible croît directement avec le volume. Coût de calcul à budgéter hors des 5 000 €.</a:t>
              </a:r>
              <a:endParaRPr lang="fr-FR" sz="1350" noProof="0" dirty="0"/>
            </a:p>
          </p:txBody>
        </p:sp>
      </p:grpSp>
      <p:grpSp>
        <p:nvGrpSpPr>
          <p:cNvPr id="24" name="Groupe 23">
            <a:extLst>
              <a:ext uri="{FF2B5EF4-FFF2-40B4-BE49-F238E27FC236}">
                <a16:creationId xmlns:a16="http://schemas.microsoft.com/office/drawing/2014/main" id="{B02670DD-DACE-E422-9A7A-9A664C8D2414}"/>
              </a:ext>
            </a:extLst>
          </p:cNvPr>
          <p:cNvGrpSpPr/>
          <p:nvPr/>
        </p:nvGrpSpPr>
        <p:grpSpPr>
          <a:xfrm>
            <a:off x="4325112" y="1758401"/>
            <a:ext cx="3502152" cy="2578356"/>
            <a:chOff x="4325112" y="1758401"/>
            <a:chExt cx="3502152" cy="2578356"/>
          </a:xfrm>
        </p:grpSpPr>
        <p:sp>
          <p:nvSpPr>
            <p:cNvPr id="9" name="Shape 6"/>
            <p:cNvSpPr/>
            <p:nvPr/>
          </p:nvSpPr>
          <p:spPr>
            <a:xfrm>
              <a:off x="4325112" y="1758401"/>
              <a:ext cx="3502152" cy="2578356"/>
            </a:xfrm>
            <a:prstGeom prst="roundRect">
              <a:avLst>
                <a:gd name="adj" fmla="val 2500"/>
              </a:avLst>
            </a:prstGeom>
            <a:solidFill>
              <a:srgbClr val="FFFFFF"/>
            </a:solidFill>
            <a:ln/>
            <a:effectLst>
              <a:outerShdw blurRad="101600" dist="38100" dir="54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10" name="Shape 7"/>
            <p:cNvSpPr/>
            <p:nvPr/>
          </p:nvSpPr>
          <p:spPr>
            <a:xfrm>
              <a:off x="4645152" y="2078441"/>
              <a:ext cx="658368" cy="658368"/>
            </a:xfrm>
            <a:prstGeom prst="ellipse">
              <a:avLst/>
            </a:prstGeom>
            <a:solidFill>
              <a:srgbClr val="328490"/>
            </a:solidFill>
            <a:ln/>
          </p:spPr>
          <p:txBody>
            <a:bodyPr/>
            <a:lstStyle/>
            <a:p>
              <a:endParaRPr lang="fr-FR" noProof="0" dirty="0"/>
            </a:p>
          </p:txBody>
        </p:sp>
        <p:pic>
          <p:nvPicPr>
            <p:cNvPr id="11" name="Image 1" descr="Serveur avec un remplissage uni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4773082" y="2209624"/>
              <a:ext cx="396000" cy="396000"/>
            </a:xfrm>
            <a:prstGeom prst="rect">
              <a:avLst/>
            </a:prstGeom>
          </p:spPr>
        </p:pic>
        <p:sp>
          <p:nvSpPr>
            <p:cNvPr id="12" name="Text 8"/>
            <p:cNvSpPr/>
            <p:nvPr/>
          </p:nvSpPr>
          <p:spPr>
            <a:xfrm>
              <a:off x="5486400" y="2078441"/>
              <a:ext cx="2040874" cy="685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95000"/>
                </a:lnSpc>
                <a:buNone/>
              </a:pPr>
              <a:r>
                <a:rPr lang="fr-FR" sz="1800" b="1" noProof="0" dirty="0">
                  <a:solidFill>
                    <a:srgbClr val="328490"/>
                  </a:solidFill>
                  <a:latin typeface="Josefin Sans" pitchFamily="34" charset="0"/>
                  <a:ea typeface="Josefin Sans" pitchFamily="34" charset="-122"/>
                  <a:cs typeface="Josefin Sans" pitchFamily="34" charset="-120"/>
                </a:rPr>
                <a:t>Stockage et débit</a:t>
              </a:r>
              <a:endParaRPr lang="fr-FR" sz="1800" noProof="0" dirty="0"/>
            </a:p>
          </p:txBody>
        </p:sp>
        <p:sp>
          <p:nvSpPr>
            <p:cNvPr id="13" name="Text 9"/>
            <p:cNvSpPr/>
            <p:nvPr/>
          </p:nvSpPr>
          <p:spPr>
            <a:xfrm>
              <a:off x="4610100" y="3041497"/>
              <a:ext cx="2971800" cy="9085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ct val="105000"/>
                </a:lnSpc>
                <a:buNone/>
              </a:pPr>
              <a:r>
                <a:rPr lang="fr-FR" sz="1350" noProof="0" dirty="0">
                  <a:solidFill>
                    <a:srgbClr val="464646"/>
                  </a:solidFill>
                  <a:latin typeface="Josefin Sans" pitchFamily="34" charset="0"/>
                  <a:ea typeface="Josefin Sans" pitchFamily="34" charset="-122"/>
                  <a:cs typeface="Josefin Sans" pitchFamily="34" charset="-120"/>
                </a:rPr>
                <a:t>Un volume 2 600 fois supérieur change la nature du problème : il faut anticiper le stockage et le débit de lecture des données.</a:t>
              </a:r>
              <a:endParaRPr lang="fr-FR" sz="1350" noProof="0" dirty="0"/>
            </a:p>
          </p:txBody>
        </p:sp>
      </p:grpSp>
      <p:grpSp>
        <p:nvGrpSpPr>
          <p:cNvPr id="26" name="Groupe 25">
            <a:extLst>
              <a:ext uri="{FF2B5EF4-FFF2-40B4-BE49-F238E27FC236}">
                <a16:creationId xmlns:a16="http://schemas.microsoft.com/office/drawing/2014/main" id="{BC7F237B-D61F-C7D5-B669-6C2CA1A45E69}"/>
              </a:ext>
            </a:extLst>
          </p:cNvPr>
          <p:cNvGrpSpPr/>
          <p:nvPr/>
        </p:nvGrpSpPr>
        <p:grpSpPr>
          <a:xfrm>
            <a:off x="640080" y="4746498"/>
            <a:ext cx="10881360" cy="914400"/>
            <a:chOff x="640080" y="4746498"/>
            <a:chExt cx="10881360" cy="914400"/>
          </a:xfrm>
        </p:grpSpPr>
        <p:sp>
          <p:nvSpPr>
            <p:cNvPr id="19" name="Shape 14"/>
            <p:cNvSpPr/>
            <p:nvPr/>
          </p:nvSpPr>
          <p:spPr>
            <a:xfrm>
              <a:off x="640080" y="4746498"/>
              <a:ext cx="10881360" cy="914400"/>
            </a:xfrm>
            <a:prstGeom prst="roundRect">
              <a:avLst>
                <a:gd name="adj" fmla="val 9000"/>
              </a:avLst>
            </a:prstGeom>
            <a:solidFill>
              <a:srgbClr val="328490"/>
            </a:solidFill>
            <a:ln/>
            <a:effectLst>
              <a:outerShdw blurRad="101600" dist="38100" dir="54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20" name="Text 15"/>
            <p:cNvSpPr/>
            <p:nvPr/>
          </p:nvSpPr>
          <p:spPr>
            <a:xfrm>
              <a:off x="1041400" y="4901946"/>
              <a:ext cx="10205720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00000"/>
                </a:lnSpc>
                <a:buNone/>
              </a:pPr>
              <a:r>
                <a:rPr lang="fr-FR" sz="1500" b="1" noProof="0" dirty="0">
                  <a:solidFill>
                    <a:srgbClr val="FFFFFF"/>
                  </a:solidFill>
                  <a:latin typeface="Josefin Sans" pitchFamily="34" charset="0"/>
                  <a:ea typeface="Josefin Sans" pitchFamily="34" charset="-122"/>
                  <a:cs typeface="Josefin Sans" pitchFamily="34" charset="-120"/>
                </a:rPr>
                <a:t>Recommandation : </a:t>
              </a:r>
              <a:r>
                <a:rPr lang="fr-FR" sz="1500" noProof="0" dirty="0">
                  <a:solidFill>
                    <a:srgbClr val="EEF7F8"/>
                  </a:solidFill>
                  <a:latin typeface="Josefin Sans" pitchFamily="34" charset="0"/>
                  <a:ea typeface="Josefin Sans" pitchFamily="34" charset="-122"/>
                  <a:cs typeface="Josefin Sans" pitchFamily="34" charset="-120"/>
                </a:rPr>
                <a:t>un pilote allégé, sans phase d'exploration, sur GPU, avec validation de la qualité du clustering à grande échelle avant tout engagement budgétaire.</a:t>
              </a:r>
              <a:endParaRPr lang="fr-FR" sz="1500" noProof="0" dirty="0"/>
            </a:p>
          </p:txBody>
        </p:sp>
      </p:grpSp>
      <p:grpSp>
        <p:nvGrpSpPr>
          <p:cNvPr id="25" name="Groupe 24">
            <a:extLst>
              <a:ext uri="{FF2B5EF4-FFF2-40B4-BE49-F238E27FC236}">
                <a16:creationId xmlns:a16="http://schemas.microsoft.com/office/drawing/2014/main" id="{E0D1DB5B-2665-82BA-D147-AA2FB04FB725}"/>
              </a:ext>
            </a:extLst>
          </p:cNvPr>
          <p:cNvGrpSpPr/>
          <p:nvPr/>
        </p:nvGrpSpPr>
        <p:grpSpPr>
          <a:xfrm>
            <a:off x="8010144" y="1758401"/>
            <a:ext cx="3502152" cy="2578356"/>
            <a:chOff x="8010144" y="1758401"/>
            <a:chExt cx="3502152" cy="2578356"/>
          </a:xfrm>
        </p:grpSpPr>
        <p:sp>
          <p:nvSpPr>
            <p:cNvPr id="14" name="Shape 10"/>
            <p:cNvSpPr/>
            <p:nvPr/>
          </p:nvSpPr>
          <p:spPr>
            <a:xfrm>
              <a:off x="8010144" y="1758401"/>
              <a:ext cx="3502152" cy="2578356"/>
            </a:xfrm>
            <a:prstGeom prst="roundRect">
              <a:avLst>
                <a:gd name="adj" fmla="val 2500"/>
              </a:avLst>
            </a:prstGeom>
            <a:solidFill>
              <a:srgbClr val="FFFFFF"/>
            </a:solidFill>
            <a:ln/>
            <a:effectLst>
              <a:outerShdw blurRad="101600" dist="38100" dir="54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15" name="Shape 11"/>
            <p:cNvSpPr/>
            <p:nvPr/>
          </p:nvSpPr>
          <p:spPr>
            <a:xfrm>
              <a:off x="8330184" y="2078441"/>
              <a:ext cx="658368" cy="658368"/>
            </a:xfrm>
            <a:prstGeom prst="ellipse">
              <a:avLst/>
            </a:prstGeom>
            <a:solidFill>
              <a:srgbClr val="328490"/>
            </a:solidFill>
            <a:ln/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17" name="Text 12"/>
            <p:cNvSpPr/>
            <p:nvPr/>
          </p:nvSpPr>
          <p:spPr>
            <a:xfrm>
              <a:off x="9171432" y="2064724"/>
              <a:ext cx="2177027" cy="685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95000"/>
                </a:lnSpc>
                <a:buNone/>
              </a:pPr>
              <a:r>
                <a:rPr lang="fr-FR" sz="1800" b="1" noProof="0" dirty="0">
                  <a:solidFill>
                    <a:srgbClr val="328490"/>
                  </a:solidFill>
                  <a:latin typeface="Josefin Sans" pitchFamily="34" charset="0"/>
                  <a:ea typeface="Josefin Sans" pitchFamily="34" charset="-122"/>
                  <a:cs typeface="Josefin Sans" pitchFamily="34" charset="-120"/>
                </a:rPr>
                <a:t>Qualité du clustering à valider</a:t>
              </a:r>
              <a:endParaRPr lang="fr-FR" sz="1800" noProof="0" dirty="0"/>
            </a:p>
          </p:txBody>
        </p:sp>
        <p:sp>
          <p:nvSpPr>
            <p:cNvPr id="18" name="Text 13"/>
            <p:cNvSpPr/>
            <p:nvPr/>
          </p:nvSpPr>
          <p:spPr>
            <a:xfrm>
              <a:off x="8330184" y="3016040"/>
              <a:ext cx="2971800" cy="92224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ct val="105000"/>
                </a:lnSpc>
                <a:buNone/>
              </a:pPr>
              <a:r>
                <a:rPr lang="fr-FR" sz="1350" noProof="0" dirty="0">
                  <a:solidFill>
                    <a:srgbClr val="464646"/>
                  </a:solidFill>
                  <a:latin typeface="Josefin Sans" pitchFamily="34" charset="0"/>
                  <a:ea typeface="Josefin Sans" pitchFamily="34" charset="-122"/>
                  <a:cs typeface="Josefin Sans" pitchFamily="34" charset="-120"/>
                </a:rPr>
                <a:t>L'ARI de 0,285 obtenu sur 1 506 images n'est pas garanti sur 4 M. Une dégradation affaiblirait directement les labels faibles produits.</a:t>
              </a:r>
              <a:endParaRPr lang="fr-FR" sz="1350" noProof="0" dirty="0"/>
            </a:p>
          </p:txBody>
        </p:sp>
        <p:pic>
          <p:nvPicPr>
            <p:cNvPr id="22" name="Image 0" descr="Formes simples avec un remplissage uni">
              <a:extLst>
                <a:ext uri="{FF2B5EF4-FFF2-40B4-BE49-F238E27FC236}">
                  <a16:creationId xmlns:a16="http://schemas.microsoft.com/office/drawing/2014/main" id="{FC8A6D11-0989-8D62-EBCC-710A05A5CBA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8479368" y="2236449"/>
              <a:ext cx="360000" cy="360000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3284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377440"/>
            <a:ext cx="5943600" cy="5943600"/>
          </a:xfrm>
          <a:prstGeom prst="ellipse">
            <a:avLst/>
          </a:prstGeom>
          <a:solidFill>
            <a:srgbClr val="6BA6AF">
              <a:alpha val="30000"/>
            </a:srgbClr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3" name="Text 1"/>
          <p:cNvSpPr/>
          <p:nvPr/>
        </p:nvSpPr>
        <p:spPr>
          <a:xfrm>
            <a:off x="822960" y="5029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500" b="1" kern="0" spc="300" noProof="0" dirty="0">
                <a:solidFill>
                  <a:srgbClr val="D7EAED"/>
                </a:solidFill>
                <a:latin typeface="Josefin Sans" pitchFamily="34" charset="0"/>
                <a:ea typeface="Josefin Sans" pitchFamily="34" charset="-122"/>
                <a:cs typeface="Josefin Sans" pitchFamily="34" charset="-120"/>
              </a:rPr>
              <a:t>En synthèse</a:t>
            </a:r>
            <a:endParaRPr lang="fr-FR" sz="1500" noProof="0" dirty="0"/>
          </a:p>
        </p:txBody>
      </p:sp>
      <p:sp>
        <p:nvSpPr>
          <p:cNvPr id="4" name="Text 2"/>
          <p:cNvSpPr/>
          <p:nvPr/>
        </p:nvSpPr>
        <p:spPr>
          <a:xfrm>
            <a:off x="822960" y="1054100"/>
            <a:ext cx="10607040" cy="1003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fr-FR" sz="3000" b="1" noProof="0" dirty="0">
                <a:solidFill>
                  <a:srgbClr val="FFFFFF"/>
                </a:solidFill>
                <a:latin typeface="Josefin Sans" pitchFamily="34" charset="0"/>
                <a:ea typeface="Josefin Sans" pitchFamily="34" charset="-122"/>
                <a:cs typeface="Josefin Sans" pitchFamily="34" charset="-120"/>
              </a:rPr>
              <a:t>Le semi-supervisé transforme 100 annotations en un modèle utilisable</a:t>
            </a:r>
            <a:endParaRPr lang="fr-FR" sz="3000" noProof="0" dirty="0"/>
          </a:p>
        </p:txBody>
      </p:sp>
      <p:grpSp>
        <p:nvGrpSpPr>
          <p:cNvPr id="27" name="Groupe 26">
            <a:extLst>
              <a:ext uri="{FF2B5EF4-FFF2-40B4-BE49-F238E27FC236}">
                <a16:creationId xmlns:a16="http://schemas.microsoft.com/office/drawing/2014/main" id="{C7568329-021C-74B9-F232-2E896802BCAF}"/>
              </a:ext>
            </a:extLst>
          </p:cNvPr>
          <p:cNvGrpSpPr/>
          <p:nvPr/>
        </p:nvGrpSpPr>
        <p:grpSpPr>
          <a:xfrm>
            <a:off x="822960" y="2468880"/>
            <a:ext cx="10607040" cy="548640"/>
            <a:chOff x="822960" y="2468880"/>
            <a:chExt cx="10607040" cy="548640"/>
          </a:xfrm>
        </p:grpSpPr>
        <p:sp>
          <p:nvSpPr>
            <p:cNvPr id="5" name="Shape 3"/>
            <p:cNvSpPr/>
            <p:nvPr/>
          </p:nvSpPr>
          <p:spPr>
            <a:xfrm>
              <a:off x="822960" y="2514600"/>
              <a:ext cx="457200" cy="457200"/>
            </a:xfrm>
            <a:prstGeom prst="ellipse">
              <a:avLst/>
            </a:prstGeom>
            <a:solidFill>
              <a:srgbClr val="FFFFFF"/>
            </a:solidFill>
            <a:ln/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7" name="Text 4"/>
            <p:cNvSpPr/>
            <p:nvPr/>
          </p:nvSpPr>
          <p:spPr>
            <a:xfrm>
              <a:off x="1463040" y="2468880"/>
              <a:ext cx="996696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00000"/>
                </a:lnSpc>
                <a:buNone/>
              </a:pPr>
              <a:r>
                <a:rPr lang="fr-FR" sz="1600" noProof="0" dirty="0" err="1">
                  <a:solidFill>
                    <a:srgbClr val="FFFFFF"/>
                  </a:solidFill>
                  <a:latin typeface="Josefin Sans" pitchFamily="34" charset="0"/>
                  <a:ea typeface="Josefin Sans" pitchFamily="34" charset="-122"/>
                  <a:cs typeface="Josefin Sans" pitchFamily="34" charset="-120"/>
                </a:rPr>
                <a:t>Recall</a:t>
              </a:r>
              <a:r>
                <a:rPr lang="fr-FR" sz="1600" noProof="0" dirty="0">
                  <a:solidFill>
                    <a:srgbClr val="FFFFFF"/>
                  </a:solidFill>
                  <a:latin typeface="Josefin Sans" pitchFamily="34" charset="0"/>
                  <a:ea typeface="Josefin Sans" pitchFamily="34" charset="-122"/>
                  <a:cs typeface="Josefin Sans" pitchFamily="34" charset="-120"/>
                </a:rPr>
                <a:t> cancer multiplié par 6 (0,10 → 0,60) sur un test jamais vu, l'erreur qui compte en dépistage.</a:t>
              </a:r>
              <a:endParaRPr lang="fr-FR" sz="1600" noProof="0" dirty="0"/>
            </a:p>
          </p:txBody>
        </p:sp>
        <p:pic>
          <p:nvPicPr>
            <p:cNvPr id="20" name="Image 2" descr="Badge 1 avec un remplissage uni">
              <a:extLst>
                <a:ext uri="{FF2B5EF4-FFF2-40B4-BE49-F238E27FC236}">
                  <a16:creationId xmlns:a16="http://schemas.microsoft.com/office/drawing/2014/main" id="{35030403-D8C4-7ECB-757E-DC83252A7D6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892833" y="2584473"/>
              <a:ext cx="317454" cy="317454"/>
            </a:xfrm>
            <a:prstGeom prst="rect">
              <a:avLst/>
            </a:prstGeom>
          </p:spPr>
        </p:pic>
      </p:grpSp>
      <p:grpSp>
        <p:nvGrpSpPr>
          <p:cNvPr id="28" name="Groupe 27">
            <a:extLst>
              <a:ext uri="{FF2B5EF4-FFF2-40B4-BE49-F238E27FC236}">
                <a16:creationId xmlns:a16="http://schemas.microsoft.com/office/drawing/2014/main" id="{292D8E4E-3CBA-EA28-9117-B477CE56FA03}"/>
              </a:ext>
            </a:extLst>
          </p:cNvPr>
          <p:cNvGrpSpPr/>
          <p:nvPr/>
        </p:nvGrpSpPr>
        <p:grpSpPr>
          <a:xfrm>
            <a:off x="822960" y="3200400"/>
            <a:ext cx="10607040" cy="548640"/>
            <a:chOff x="822960" y="3200400"/>
            <a:chExt cx="10607040" cy="548640"/>
          </a:xfrm>
        </p:grpSpPr>
        <p:sp>
          <p:nvSpPr>
            <p:cNvPr id="8" name="Shape 5"/>
            <p:cNvSpPr/>
            <p:nvPr/>
          </p:nvSpPr>
          <p:spPr>
            <a:xfrm>
              <a:off x="822960" y="3246120"/>
              <a:ext cx="457200" cy="457200"/>
            </a:xfrm>
            <a:prstGeom prst="ellipse">
              <a:avLst/>
            </a:prstGeom>
            <a:solidFill>
              <a:srgbClr val="FFFFFF"/>
            </a:solidFill>
            <a:ln/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10" name="Text 6"/>
            <p:cNvSpPr/>
            <p:nvPr/>
          </p:nvSpPr>
          <p:spPr>
            <a:xfrm>
              <a:off x="1463040" y="3200400"/>
              <a:ext cx="996696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00000"/>
                </a:lnSpc>
                <a:buNone/>
              </a:pPr>
              <a:r>
                <a:rPr lang="fr-FR" sz="1600" noProof="0" dirty="0">
                  <a:solidFill>
                    <a:srgbClr val="FFFFFF"/>
                  </a:solidFill>
                  <a:latin typeface="Josefin Sans" pitchFamily="34" charset="0"/>
                  <a:ea typeface="Josefin Sans" pitchFamily="34" charset="-122"/>
                  <a:cs typeface="Josefin Sans" pitchFamily="34" charset="-120"/>
                </a:rPr>
                <a:t>Méthode de clustering choisie sur preuve chiffrée (ARI), séparation stricte faible / fort tenue partout.</a:t>
              </a:r>
              <a:endParaRPr lang="fr-FR" sz="1600" noProof="0" dirty="0"/>
            </a:p>
          </p:txBody>
        </p:sp>
        <p:pic>
          <p:nvPicPr>
            <p:cNvPr id="22" name="Image 2" descr="Badge avec un remplissage uni">
              <a:extLst>
                <a:ext uri="{FF2B5EF4-FFF2-40B4-BE49-F238E27FC236}">
                  <a16:creationId xmlns:a16="http://schemas.microsoft.com/office/drawing/2014/main" id="{A2E6FF23-A7C9-934E-6906-51C2048B27A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892833" y="3313112"/>
              <a:ext cx="317454" cy="317454"/>
            </a:xfrm>
            <a:prstGeom prst="rect">
              <a:avLst/>
            </a:prstGeom>
          </p:spPr>
        </p:pic>
      </p:grpSp>
      <p:grpSp>
        <p:nvGrpSpPr>
          <p:cNvPr id="29" name="Groupe 28">
            <a:extLst>
              <a:ext uri="{FF2B5EF4-FFF2-40B4-BE49-F238E27FC236}">
                <a16:creationId xmlns:a16="http://schemas.microsoft.com/office/drawing/2014/main" id="{27873D91-B452-D848-79EF-6EFA77367C7E}"/>
              </a:ext>
            </a:extLst>
          </p:cNvPr>
          <p:cNvGrpSpPr/>
          <p:nvPr/>
        </p:nvGrpSpPr>
        <p:grpSpPr>
          <a:xfrm>
            <a:off x="822960" y="3931920"/>
            <a:ext cx="10607040" cy="548640"/>
            <a:chOff x="822960" y="3931920"/>
            <a:chExt cx="10607040" cy="548640"/>
          </a:xfrm>
        </p:grpSpPr>
        <p:sp>
          <p:nvSpPr>
            <p:cNvPr id="11" name="Shape 7"/>
            <p:cNvSpPr/>
            <p:nvPr/>
          </p:nvSpPr>
          <p:spPr>
            <a:xfrm>
              <a:off x="822960" y="3977640"/>
              <a:ext cx="457200" cy="457200"/>
            </a:xfrm>
            <a:prstGeom prst="ellipse">
              <a:avLst/>
            </a:prstGeom>
            <a:solidFill>
              <a:srgbClr val="FFFFFF"/>
            </a:solidFill>
            <a:ln/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13" name="Text 8"/>
            <p:cNvSpPr/>
            <p:nvPr/>
          </p:nvSpPr>
          <p:spPr>
            <a:xfrm>
              <a:off x="1463040" y="3931920"/>
              <a:ext cx="996696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00000"/>
                </a:lnSpc>
                <a:buNone/>
              </a:pPr>
              <a:r>
                <a:rPr lang="fr-FR" sz="1600" noProof="0" dirty="0">
                  <a:solidFill>
                    <a:srgbClr val="FFFFFF"/>
                  </a:solidFill>
                  <a:latin typeface="Josefin Sans" pitchFamily="34" charset="0"/>
                  <a:ea typeface="Josefin Sans" pitchFamily="34" charset="-122"/>
                  <a:cs typeface="Josefin Sans" pitchFamily="34" charset="-120"/>
                </a:rPr>
                <a:t>Passage à l'échelle chiffré en ordre de grandeur, avec conditions explicites pour rester crédible à 5 000 €.</a:t>
              </a:r>
              <a:endParaRPr lang="fr-FR" sz="1600" noProof="0" dirty="0"/>
            </a:p>
          </p:txBody>
        </p:sp>
        <p:pic>
          <p:nvPicPr>
            <p:cNvPr id="24" name="Image 2" descr="Badge 3 avec un remplissage uni">
              <a:extLst>
                <a:ext uri="{FF2B5EF4-FFF2-40B4-BE49-F238E27FC236}">
                  <a16:creationId xmlns:a16="http://schemas.microsoft.com/office/drawing/2014/main" id="{AD3AD2E5-7E99-B01D-B3B8-E97AEA215A4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892833" y="4042046"/>
              <a:ext cx="317454" cy="317454"/>
            </a:xfrm>
            <a:prstGeom prst="rect">
              <a:avLst/>
            </a:prstGeom>
          </p:spPr>
        </p:pic>
      </p:grpSp>
      <p:grpSp>
        <p:nvGrpSpPr>
          <p:cNvPr id="30" name="Groupe 29">
            <a:extLst>
              <a:ext uri="{FF2B5EF4-FFF2-40B4-BE49-F238E27FC236}">
                <a16:creationId xmlns:a16="http://schemas.microsoft.com/office/drawing/2014/main" id="{D384479D-914A-5C46-3F4B-D5DF278B5E89}"/>
              </a:ext>
            </a:extLst>
          </p:cNvPr>
          <p:cNvGrpSpPr/>
          <p:nvPr/>
        </p:nvGrpSpPr>
        <p:grpSpPr>
          <a:xfrm>
            <a:off x="822960" y="4892040"/>
            <a:ext cx="10607040" cy="1335193"/>
            <a:chOff x="822960" y="4892040"/>
            <a:chExt cx="10607040" cy="1335193"/>
          </a:xfrm>
        </p:grpSpPr>
        <p:sp>
          <p:nvSpPr>
            <p:cNvPr id="14" name="Shape 9"/>
            <p:cNvSpPr/>
            <p:nvPr/>
          </p:nvSpPr>
          <p:spPr>
            <a:xfrm>
              <a:off x="822960" y="4892040"/>
              <a:ext cx="10607040" cy="1335193"/>
            </a:xfrm>
            <a:prstGeom prst="roundRect">
              <a:avLst>
                <a:gd name="adj" fmla="val 5806"/>
              </a:avLst>
            </a:prstGeom>
            <a:solidFill>
              <a:srgbClr val="26707B"/>
            </a:solidFill>
            <a:ln/>
            <a:effectLst>
              <a:outerShdw blurRad="101600" dist="38100" dir="54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15" name="Shape 10"/>
            <p:cNvSpPr/>
            <p:nvPr/>
          </p:nvSpPr>
          <p:spPr>
            <a:xfrm>
              <a:off x="1097280" y="5138928"/>
              <a:ext cx="502920" cy="502920"/>
            </a:xfrm>
            <a:prstGeom prst="ellipse">
              <a:avLst/>
            </a:prstGeom>
            <a:solidFill>
              <a:srgbClr val="FFFFFF"/>
            </a:solidFill>
            <a:ln/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17" name="Text 11"/>
            <p:cNvSpPr/>
            <p:nvPr/>
          </p:nvSpPr>
          <p:spPr>
            <a:xfrm>
              <a:off x="1783080" y="5074920"/>
              <a:ext cx="950976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fr-FR" sz="1500" b="1" noProof="0" dirty="0">
                  <a:solidFill>
                    <a:srgbClr val="FFFFFF"/>
                  </a:solidFill>
                  <a:latin typeface="Josefin Sans" pitchFamily="34" charset="0"/>
                  <a:ea typeface="Josefin Sans" pitchFamily="34" charset="-122"/>
                  <a:cs typeface="Josefin Sans" pitchFamily="34" charset="-120"/>
                </a:rPr>
                <a:t>Limites assumées</a:t>
              </a:r>
              <a:endParaRPr lang="fr-FR" sz="1500" noProof="0" dirty="0"/>
            </a:p>
          </p:txBody>
        </p:sp>
        <p:sp>
          <p:nvSpPr>
            <p:cNvPr id="18" name="Text 12"/>
            <p:cNvSpPr/>
            <p:nvPr/>
          </p:nvSpPr>
          <p:spPr>
            <a:xfrm>
              <a:off x="1783080" y="5358051"/>
              <a:ext cx="9464040" cy="7772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02000"/>
                </a:lnSpc>
                <a:buNone/>
              </a:pPr>
              <a:r>
                <a:rPr lang="fr-FR" sz="1350" noProof="0" dirty="0">
                  <a:solidFill>
                    <a:srgbClr val="EAF5F6"/>
                  </a:solidFill>
                  <a:latin typeface="Josefin Sans" pitchFamily="34" charset="0"/>
                  <a:ea typeface="Josefin Sans" pitchFamily="34" charset="-122"/>
                  <a:cs typeface="Josefin Sans" pitchFamily="34" charset="-120"/>
                </a:rPr>
                <a:t>Seulement 20 images de test : chaque cas fait bouger l'</a:t>
              </a:r>
              <a:r>
                <a:rPr lang="fr-FR" sz="1350" noProof="0" dirty="0" err="1">
                  <a:solidFill>
                    <a:srgbClr val="EAF5F6"/>
                  </a:solidFill>
                  <a:latin typeface="Josefin Sans" pitchFamily="34" charset="0"/>
                  <a:ea typeface="Josefin Sans" pitchFamily="34" charset="-122"/>
                  <a:cs typeface="Josefin Sans" pitchFamily="34" charset="-120"/>
                </a:rPr>
                <a:t>accuracy</a:t>
              </a:r>
              <a:r>
                <a:rPr lang="fr-FR" sz="1350" noProof="0" dirty="0">
                  <a:solidFill>
                    <a:srgbClr val="EAF5F6"/>
                  </a:solidFill>
                  <a:latin typeface="Josefin Sans" pitchFamily="34" charset="0"/>
                  <a:ea typeface="Josefin Sans" pitchFamily="34" charset="-122"/>
                  <a:cs typeface="Josefin Sans" pitchFamily="34" charset="-120"/>
                </a:rPr>
                <a:t> de 5 points. Absence de graine fixée : les valeurs absolues varient d'un run à l'autre, mais l'écart de 25 points reste stable, ce qui renforce la conclusion.</a:t>
              </a:r>
              <a:endParaRPr lang="fr-FR" sz="1350" noProof="0" dirty="0"/>
            </a:p>
          </p:txBody>
        </p:sp>
        <p:pic>
          <p:nvPicPr>
            <p:cNvPr id="26" name="Image 3" descr="Avertissement avec un remplissage uni">
              <a:extLst>
                <a:ext uri="{FF2B5EF4-FFF2-40B4-BE49-F238E27FC236}">
                  <a16:creationId xmlns:a16="http://schemas.microsoft.com/office/drawing/2014/main" id="{7F562AB9-E217-EFB1-45ED-E56DEF63E53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p:blipFill>
          <p:spPr>
            <a:xfrm>
              <a:off x="1186740" y="5196051"/>
              <a:ext cx="324000" cy="324000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320</TotalTime>
  <Words>1296</Words>
  <Application>Microsoft Office PowerPoint</Application>
  <PresentationFormat>Grand écran</PresentationFormat>
  <Paragraphs>156</Paragraphs>
  <Slides>13</Slides>
  <Notes>13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6" baseType="lpstr">
      <vt:lpstr>Arial</vt:lpstr>
      <vt:lpstr>Josefin Sans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Détection de tumeurs cérébrales par apprentissage semi-supervisé</dc:title>
  <dc:subject>PptxGenJS Presentation</dc:subject>
  <dc:creator>Jonathan</dc:creator>
  <cp:lastModifiedBy>jonathan fernandez</cp:lastModifiedBy>
  <cp:revision>21</cp:revision>
  <dcterms:created xsi:type="dcterms:W3CDTF">2026-07-07T08:23:49Z</dcterms:created>
  <dcterms:modified xsi:type="dcterms:W3CDTF">2026-07-07T14:23:29Z</dcterms:modified>
</cp:coreProperties>
</file>